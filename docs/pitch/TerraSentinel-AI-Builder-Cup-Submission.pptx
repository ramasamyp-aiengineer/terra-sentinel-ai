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7.png"/><Relationship Id="rId8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>
                <a:solidFill>
                  <a:srgbClr val="0F766E"/>
                </a:solidFill>
                <a:latin typeface="Calibri"/>
              </a:rPr>
              <a:t>TEAM DETAILS  ·  AI BUILDER CUP 2026  ·  JAPAC  ·  SUSTAINABILITY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0F1D1B"/>
                </a:solidFill>
                <a:latin typeface="Calibri"/>
              </a:rPr>
              <a:t>Team name:  Agent Ram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0F1D1B"/>
                </a:solidFill>
                <a:latin typeface="Calibri"/>
              </a:rPr>
              <a:t>Team leader:  Ramasamy P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Product:  TerraSentinel AI — ground-motion early warning</a:t>
            </a:r>
          </a:p>
          <a:p>
            <a:pPr>
              <a:spcAft>
                <a:spcPts val="2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Problem: After each Sentinel-1 pass, operators face thousands of InSAR points with no consequence ranking. TerraSentinel cuts motion into 250 m sites, ranks who inspects today (RPI), reports honest time-to-threshold bands (never failure dates), and uses Gemini to draft a number-verified inspection ticket.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1800" b="1">
                <a:solidFill>
                  <a:srgbClr val="0F766E"/>
                </a:solidFill>
                <a:latin typeface="Calibri"/>
              </a:rPr>
              <a:t>TerraSentinel AI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Which 250 m should an engineer inspect today?</a:t>
            </a:r>
          </a:p>
          <a:p>
            <a:pPr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Engine ranks consequence. Gemini writes the ticket. Every number checked.</a:t>
            </a: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  <p:sp>
        <p:nvSpPr>
          <p:cNvPr id="65" name="Rounded Rectangle 64"/>
          <p:cNvSpPr/>
          <p:nvPr/>
        </p:nvSpPr>
        <p:spPr>
          <a:xfrm>
            <a:off x="260000" y="3820000"/>
            <a:ext cx="2103500" cy="106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60000" y="3820000"/>
            <a:ext cx="36000" cy="106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0000" y="3880000"/>
            <a:ext cx="2003500" cy="9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87 → 7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sites → act list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433500" y="3820000"/>
            <a:ext cx="2103500" cy="106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433500" y="3820000"/>
            <a:ext cx="36000" cy="10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503500" y="3880000"/>
            <a:ext cx="2003500" cy="9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C62828"/>
                </a:solidFill>
                <a:latin typeface="Calibri"/>
              </a:rPr>
              <a:t>RPI 86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NH-58 · 35–64 d band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607000" y="3820000"/>
            <a:ext cx="2103500" cy="106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607000" y="3820000"/>
            <a:ext cx="36000" cy="106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77000" y="3880000"/>
            <a:ext cx="2003500" cy="9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9488"/>
                </a:solidFill>
                <a:latin typeface="Calibri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verified tool numbers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780500" y="3820000"/>
            <a:ext cx="2103500" cy="106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780500" y="3820000"/>
            <a:ext cx="36000" cy="106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50500" y="3880000"/>
            <a:ext cx="2003500" cy="9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GCP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Run · BQ · Vertex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Ground creeps for months. Nobody ranks which creep matters.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0000" y="1300000"/>
            <a:ext cx="4277000" cy="8675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60000" y="1300000"/>
            <a:ext cx="36000" cy="8675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0000" y="1350000"/>
            <a:ext cx="4157000" cy="78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Mountain highways · NH-58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Sole valley access. One slip cuts towns &amp; supply.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60000" y="2217500"/>
            <a:ext cx="4277000" cy="8675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60000" y="2217500"/>
            <a:ext cx="36000" cy="8675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0000" y="2267500"/>
            <a:ext cx="4157000" cy="78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Metro tunnels · Chennai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Settlement under roads &amp; buildings. Tight tolerance.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0000" y="3135000"/>
            <a:ext cx="4277000" cy="8675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60000" y="3135000"/>
            <a:ext cx="36000" cy="8675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40000" y="3185000"/>
            <a:ext cx="4157000" cy="78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Dams &amp; tailings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Crest / toe motion with severe downstream consequence.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0000" y="4052500"/>
            <a:ext cx="4277000" cy="867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0000" y="4052500"/>
            <a:ext cx="36000" cy="867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0000" y="4102500"/>
            <a:ext cx="4157000" cy="78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The decision we own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Which 250 m needs an engineer, why, and how soon?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607000" y="1300000"/>
            <a:ext cx="4277000" cy="199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607000" y="1300000"/>
            <a:ext cx="36000" cy="199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87000" y="1340000"/>
            <a:ext cx="4157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Today's options fail the decision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87000" y="1620000"/>
            <a:ext cx="4157000" cy="163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Raw InSAR portal — no asset link, no who-goes-today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Rainfall alarm — trigger treated as hazard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Generic AI — invents mm and failure dates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Walk-over calendar — ignores acceleration now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607000" y="3361000"/>
            <a:ext cx="2103500" cy="1559000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07000" y="3361000"/>
            <a:ext cx="36000" cy="1559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677000" y="3401000"/>
            <a:ext cx="20035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We do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77000" y="3621000"/>
            <a:ext cx="2003500" cy="12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Creep on linear assets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Rank · explain · track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Threshold window + assumptions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780500" y="3361000"/>
            <a:ext cx="2103500" cy="15590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780500" y="3361000"/>
            <a:ext cx="36000" cy="1559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50500" y="3401000"/>
            <a:ext cx="20035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We refuse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0500" y="3621000"/>
            <a:ext cx="2003500" cy="12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Failure / collapse dates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Sudden inter-pass events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Certified safety claim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OPPORTUNITIES · USP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Not an InSAR viewer — a decision layer with honest outlooks and guarded GenAI.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30000" y="1360000"/>
            <a:ext cx="2718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How different?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00" y="1660000"/>
            <a:ext cx="2728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250 m sites on corridor geometry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RPI = hazard x consequence x confidence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Alerts = pass diffs; Act list = today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Rain amplifies only (+50% cap)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USGS quakes: context, never scored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Gemini narrates; engine decides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28000" y="1360000"/>
            <a:ext cx="2718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How it solves it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18000" y="1660000"/>
            <a:ext cx="2728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Validate → locate → measure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guard: bad radar != CRITICAL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Rank Act-today shortlist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Outlook = ETA band, never a date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Ticket: summary · cause · checklist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Same maths: local XOR BigQuery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26000" y="1360000"/>
            <a:ext cx="2718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USP / demo value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16000" y="1660000"/>
            <a:ext cx="2728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Honest continuing-regime bands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Number guard rejects invented mm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Production GCP posture (Run + BQ)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62,330 obs → 87 sites → 7 action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4 Act today in Chamoli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Judge can sign in and act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FEATURES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Every surface ships a decision — not a dashboard toy.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60000" y="130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60000" y="130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0000" y="135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Command Center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Map + KPIs + Act today, ranked by consequence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431000" y="130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431000" y="130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91000" y="135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Site drawer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RPI, speed, rain, outlook band, pass trend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602000" y="130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602000" y="130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662000" y="135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Alerts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What changed between passes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773000" y="130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73000" y="130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33000" y="135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Brief · Trends · Portfolio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Planning views; history recomputed from data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60000" y="314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0000" y="314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20000" y="319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Work Orders + Gemini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Template-first; 7 tools; number guard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431000" y="314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431000" y="314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91000" y="319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Data 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Validate-then-import; rain fetch; provenance; BQ sync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602000" y="314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02000" y="314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662000" y="319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Access &amp; audit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RBAC · sessions · CSRF · audit log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773000" y="3140000"/>
            <a:ext cx="2111000" cy="1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773000" y="3140000"/>
            <a:ext cx="36000" cy="178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833000" y="3190000"/>
            <a:ext cx="2011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Methodology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Published formulae — every score auditable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PROCESS / USE-CASE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One satellite pass: space → ranked site → crew at the right 250 m.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1300000"/>
            <a:ext cx="1668800" cy="18824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1300000"/>
            <a:ext cx="36000" cy="188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00000" y="1380000"/>
            <a:ext cx="1588800" cy="17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1 Pass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Every 6–12 days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Sentinel-1 mm motion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998800" y="1300000"/>
            <a:ext cx="1668800" cy="188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998800" y="1300000"/>
            <a:ext cx="36000" cy="188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38800" y="1380000"/>
            <a:ext cx="1588800" cy="17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2 Map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Onto the asset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1,355 pts → 87 sites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37600" y="1300000"/>
            <a:ext cx="1668800" cy="18824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737600" y="1300000"/>
            <a:ext cx="36000" cy="188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777600" y="1380000"/>
            <a:ext cx="1588800" cy="17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3 Rank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What matters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Speed · accel · consequence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476400" y="1300000"/>
            <a:ext cx="1668800" cy="188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476400" y="1300000"/>
            <a:ext cx="36000" cy="188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516400" y="1380000"/>
            <a:ext cx="1588800" cy="17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4 Gemini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Write ticket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Tools → guard → checklist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215200" y="1300000"/>
            <a:ext cx="1668800" cy="18824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215200" y="1300000"/>
            <a:ext cx="36000" cy="188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55200" y="1380000"/>
            <a:ext cx="1588800" cy="17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5 Next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Keep watching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 · next pass replay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60000" y="3252400"/>
            <a:ext cx="8624000" cy="16676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0000" y="3252400"/>
            <a:ext cx="36000" cy="166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0000" y="3292400"/>
            <a:ext cx="8464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Demo funnel (labelled synthetic)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40000" y="3532400"/>
            <a:ext cx="1652800" cy="134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observations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32800" y="3532400"/>
            <a:ext cx="1652800" cy="134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radar points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725600" y="3532400"/>
            <a:ext cx="1652800" cy="134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250 m sites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418400" y="3532400"/>
            <a:ext cx="1652800" cy="134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C62828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CRIT/ELEV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111200" y="3532400"/>
            <a:ext cx="1652800" cy="134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C62828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UI (LIVE)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Running product screens — aspect-correct, not stretched wireframes.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c-comm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8584" y="1336000"/>
            <a:ext cx="2204832" cy="15440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Command Center · Act list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8" name="Picture 107" descr="c-s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0542" y="1336000"/>
            <a:ext cx="1584916" cy="15440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· RPI &amp; outlook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c-workorder-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3589" y="3196000"/>
            <a:ext cx="2654822" cy="1544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work order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c-data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9387" y="3196000"/>
            <a:ext cx="2487225" cy="154400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 Hub · validate then import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ARCHITECTURE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One container · two storage backends · same tested maths.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60000" y="1300000"/>
            <a:ext cx="8624000" cy="5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0000" y="1300000"/>
            <a:ext cx="36000" cy="570000"/>
          </a:xfrm>
          <a:prstGeom prst="rect">
            <a:avLst/>
          </a:prstGeom>
          <a:solidFill>
            <a:srgbClr val="0F1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50000" y="1340000"/>
            <a:ext cx="1200000" cy="5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EDGE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60000" y="1340000"/>
            <a:ext cx="7074000" cy="5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Cloud Run · HTTPS · CSP/HSTS · rate limits · sessions · GCS state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60000" y="1910000"/>
            <a:ext cx="8624000" cy="5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60000" y="1910000"/>
            <a:ext cx="36000" cy="57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50000" y="1950000"/>
            <a:ext cx="1200000" cy="5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D4ED8"/>
                </a:solidFill>
                <a:latin typeface="Calibri"/>
              </a:rPr>
              <a:t>UI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660000" y="1950000"/>
            <a:ext cx="7074000" cy="5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React 19 · MapLibre · React Query · role-aware screens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60000" y="2520000"/>
            <a:ext cx="8624000" cy="5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0000" y="2520000"/>
            <a:ext cx="36000" cy="57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50000" y="2560000"/>
            <a:ext cx="1200000" cy="5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API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660000" y="2560000"/>
            <a:ext cx="7074000" cy="5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FastAPI · RBAC · CSRF · SSRF-safe fetch · audit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60000" y="3130000"/>
            <a:ext cx="8624000" cy="5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60000" y="3130000"/>
            <a:ext cx="36000" cy="57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50000" y="3170000"/>
            <a:ext cx="1200000" cy="5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ENGINE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60000" y="3170000"/>
            <a:ext cx="7074000" cy="5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numpy · pandas · shapely — RPI, tiers, ETA bands, alerts, pass replay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60000" y="3740000"/>
            <a:ext cx="8624000" cy="5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0000" y="3740000"/>
            <a:ext cx="36000" cy="57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50000" y="3780000"/>
            <a:ext cx="1200000" cy="5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GENAI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660000" y="3780000"/>
            <a:ext cx="7074000" cy="5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Gemini tool loop · number guard · model fallback · Vertex / AI Studio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60000" y="4350000"/>
            <a:ext cx="8624000" cy="5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60000" y="4350000"/>
            <a:ext cx="36000" cy="5700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50000" y="4390000"/>
            <a:ext cx="1200000" cy="5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DATA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660000" y="4390000"/>
            <a:ext cx="7074000" cy="51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BigQuery (GEOGRAPHY, partitions) XOR local · USGS · provenance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TECHNOLOGIES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Google Cloud end-to-end. Gemini turns a risk score into an action.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60000" y="1300000"/>
            <a:ext cx="1668800" cy="11584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0000" y="1300000"/>
            <a:ext cx="36000" cy="1158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90000" y="1350000"/>
            <a:ext cx="1608800" cy="1078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Cloud Run
Data Hub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998800" y="1300000"/>
            <a:ext cx="1668800" cy="115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998800" y="1300000"/>
            <a:ext cx="36000" cy="1158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028800" y="1350000"/>
            <a:ext cx="1608800" cy="1078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BigQuery
GIS + history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737600" y="1300000"/>
            <a:ext cx="1668800" cy="11584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737600" y="1300000"/>
            <a:ext cx="36000" cy="1158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767600" y="1350000"/>
            <a:ext cx="1608800" cy="1078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Cloud Run
risk engine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76400" y="1300000"/>
            <a:ext cx="1668800" cy="11584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476400" y="1300000"/>
            <a:ext cx="36000" cy="1158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506400" y="1350000"/>
            <a:ext cx="1608800" cy="1078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Gemini
Vertex/Studio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215200" y="1300000"/>
            <a:ext cx="1668800" cy="11584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215200" y="1300000"/>
            <a:ext cx="36000" cy="1158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245200" y="1350000"/>
            <a:ext cx="1608800" cy="1078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Engineers
map + ticket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0000" y="2528400"/>
            <a:ext cx="4277000" cy="239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0000" y="2528400"/>
            <a:ext cx="36000" cy="2391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30000" y="2578400"/>
            <a:ext cx="4157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Gemini — what GenAI does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30000" y="2828400"/>
            <a:ext cx="4157000" cy="205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7 tools: metrics, history, outlook, rain, seismic, exposure, quality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Must call tools first → investigate → JSON → number guard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Rejects invented mm and collapse language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Fallback flash-latest → lite on 429/5xx; template always ships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607000" y="2528400"/>
            <a:ext cx="4277000" cy="239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607000" y="2528400"/>
            <a:ext cx="36000" cy="23916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677000" y="2578400"/>
            <a:ext cx="4157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D4ED8"/>
                </a:solidFill>
                <a:latin typeface="Calibri"/>
              </a:rPr>
              <a:t>GCP services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677000" y="2828400"/>
            <a:ext cx="4157000" cy="205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Vertex AI / AI Studio — Gemini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BigQuery — partitions, ST_DWITHIN, bytes-billed cap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Cloud Run — one image: SPA + API + engine + agent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Secret Manager · GCS · IAM via ADC (no key files)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ESTIMATED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GenAI only on tickets; ranking stays deterministic CPU.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60000" y="1300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0000" y="1300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40000" y="1350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Cloud Run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460000" y="1350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1–2 vCPU / 2 GiB · min=1 while judging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760000" y="1350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low tens USD/mo warm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60000" y="2038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0000" y="2038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0000" y="2088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BigQuery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460000" y="2088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~62k rows · TTL cache · max bytes billed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60000" y="2088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pennies–low USD demos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2776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2776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40000" y="2826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Gemini Flash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460000" y="2826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Work-order path only · template fallback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60000" y="2826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per-ticket, optional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3514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3514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3564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Secrets +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60000" y="3564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Admin/Gemini secrets · state volume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0000" y="3564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60000" y="4252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0000" y="4252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0000" y="4302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Scale path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460000" y="4302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Materialize assignment · raise instances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60000" y="4302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linear with corridors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PROTOTYPE SNAPSHOTS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Demo value on screen — Chamoli, NH-58 CRITICAL, guarded ticket.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448" y="1336000"/>
            <a:ext cx="1869103" cy="1544000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Chamoli · 69 sites · 4 act today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c-map-cham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4420" y="1336000"/>
            <a:ext cx="1677159" cy="154400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Ranked map — not every scatterer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c-s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8542" y="3196000"/>
            <a:ext cx="1584916" cy="1544000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NH-58 · RPI 86 · 35-64 day band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6" name="Picture 145" descr="c-workord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50480" y="3196000"/>
            <a:ext cx="2005040" cy="154400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· numbers verified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PERFORMANCE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NH-58 KM 3.25-3.50 — same numbers in UI, tools, and work order.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0000" y="1300000"/>
            <a:ext cx="4277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30000" y="1350000"/>
            <a:ext cx="4167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Worked example · CRITICAL · RPI 86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30000" y="1640000"/>
            <a:ext cx="4167000" cy="3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Inputs: 6.2 vs 2.8 mm/mo · 2.2x · 29.7/40 mm · rain 213 mm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kin = 100*(.4*0.62+.3*0.40+.3*0.74) = 59.4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hazard = 59.4*(1+0.5*1.0) = 89.1 (rain capped)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RPI = 89.1*0.975*0.985 ~ 85.7 → CRITICAL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35-64 days if trend continues — NOT a failure date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History: site 61→86 · action sites 3→7 over 16 passes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What-if: minor road 57 ELEV · weak radar ≤15 · rain-only ~1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607000" y="1300000"/>
            <a:ext cx="4277000" cy="21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c-site-tr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249" y="1336000"/>
            <a:ext cx="2330502" cy="2028400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4627000" y="3420400"/>
            <a:ext cx="4237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trend · displacement + rain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607000" y="3644400"/>
            <a:ext cx="4277000" cy="1275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07000" y="3644400"/>
            <a:ext cx="36000" cy="1275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667000" y="3694400"/>
            <a:ext cx="4177000" cy="119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Live Cloud Run + BigQuery (warm)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summary ~0.4s · sites ~0.3s · alerts ~2s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Hot-path prefetch before history warm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1D1B"/>
                </a:solidFill>
                <a:latin typeface="Calibri"/>
              </a:rPr>
              <a:t>GenAI never computes RPI / tier / ETA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Scale the data plane — honesty rules stay fixed.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60000" y="1300000"/>
            <a:ext cx="4277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30000" y="1350000"/>
            <a:ext cx="4167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Roadmap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20000" y="1650000"/>
            <a:ext cx="4177000" cy="3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Production InSAR on the same Data Hub schema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Materialize point-assignment for national scale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HA once sessions leave single-process files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Field checklist / offline crew packet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OIDC / IAP for enterprise buyers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Deeper rain/geology as amplifiers only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607000" y="1300000"/>
            <a:ext cx="4277000" cy="362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607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677000" y="1350000"/>
            <a:ext cx="4167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Buyer · ask · honesty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67000" y="1650000"/>
            <a:ext cx="4177000" cy="3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Buyer: asset-integrity / geotech teams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What they buy: attention — 1,355 pts → 7 sites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Ask: live demo + 3-min video + repo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Outlook bands are never collapse dates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Gemini narrates tools only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Synthetic demo data labelled in UI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SUBMISSION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GitHub · 3-minute demo · live product.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60000" y="1300000"/>
            <a:ext cx="8624000" cy="106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60000" y="1300000"/>
            <a:ext cx="36000" cy="106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60000" y="1360000"/>
            <a:ext cx="8444000" cy="96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GitHub public repository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https://github.com/ramasamyp-aiengineer/terra-sentinel-ai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60000" y="2436666"/>
            <a:ext cx="8624000" cy="106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0000" y="2436666"/>
            <a:ext cx="36000" cy="106666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60000" y="2496666"/>
            <a:ext cx="8444000" cy="96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Demo video (3 minutes)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docs/pitch/TerraSentinel-AI-Demo-3min.mp4  (upload Drive/YouTube for portal)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60000" y="3573332"/>
            <a:ext cx="8624000" cy="106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60000" y="3573332"/>
            <a:ext cx="36000" cy="106666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60000" y="3633332"/>
            <a:ext cx="8444000" cy="96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Final product (live)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https://terrasentinel-598899050820.asia-southeast1.run.app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60000" y="4660000"/>
            <a:ext cx="8624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Sign-in credentials shown on the login page · Judge walk: docs/JUDGE.md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60000" y="580000"/>
            <a:ext cx="8624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RISK ENGINE MATHS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Measure → Score → Project. Deterministic, tested, explainable.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Measure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10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Recent speed: slope last 60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Baseline: 270 to 90 d ago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Accel = |recent|/max(|base|,0.5)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Persistence · seasonal recovery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Site = median in 250 m bin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conf mixes coh·epochs·pts·SNR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data can never be CRITICAL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Score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8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kin=100*(.4s+.3a+.3p)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hazard=kin*(1+0.5*rain/200)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RPI=hazard*(0.5+0.5*crit)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      *(0.5+0.5*conf)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Slow/far x0.2 · seasonal x0.35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cap 15 · quakes never scored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CRITICAL / ELEVATED / WATCH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3 · Project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106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ETA_const = remaining / speed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ETA_accel = quadratic root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band=[min,max] &lt;= 365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Highway 40 mm / 180 d demo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Metro 25 mm · Dam 30 mm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ALWAYS a band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NEVER a failure 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Rounded Rectangle 172"/>
          <p:cNvSpPr/>
          <p:nvPr/>
        </p:nvSpPr>
        <p:spPr>
          <a:xfrm>
            <a:off x="260000" y="1300000"/>
            <a:ext cx="8624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" name="Picture 174" descr="logo-mar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000" y="1420000"/>
            <a:ext cx="480000" cy="480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960000" y="1440000"/>
            <a:ext cx="7724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F766E"/>
                </a:solidFill>
                <a:latin typeface="Calibri"/>
              </a:rPr>
              <a:t>TerraSentinel AI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Thank you — Team Agent Ram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80000" y="2050000"/>
            <a:ext cx="8384000" cy="2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Which 250 metres should an engineer inspect today?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475854"/>
                </a:solidFill>
                <a:latin typeface="Calibri"/>
              </a:rPr>
              <a:t>The engine ranks them. Gemini writes the ticket. Every number is checked.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766E"/>
                </a:solidFill>
                <a:latin typeface="Calibri"/>
              </a:rPr>
              <a:t>Ramasamy P  ·  ramp21052000@gmail.com  ·  +91 90250 32130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Live demo + GitHub + 3-min video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75854"/>
                </a:solidFill>
                <a:latin typeface="Calibri"/>
              </a:rPr>
              <a:t>Google Cloud AI Builder Cup 2026 · Sustainability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Gemini · Vertex AI    ·    BigQuery    ·    Cloud Run    ·    Sentinel-1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