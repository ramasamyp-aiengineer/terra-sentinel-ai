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g3fb085bff3c_0_13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" name="Google Shape;59;g3fb085bff3c_0_1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11.png"/><Relationship Id="rId7" Type="http://schemas.openxmlformats.org/officeDocument/2006/relationships/image" Target="../media/image8.png"/><Relationship Id="rId8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850000"/>
            <a:ext cx="8760000" cy="19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/>
          <a:lstStyle/>
          <a:p>
            <a:pPr indent="0" lvl="0" marL="0" rtl="0"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1">
                <a:solidFill>
                  <a:srgbClr val="0F766E"/>
                </a:solidFill>
                <a:latin typeface="Calibri"/>
              </a:rPr>
              <a:t>TEAM DETAILS  ·  AI BUILDER CUP 2026  ·  JAPAC  ·  SUSTAINABILITY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Team: Agent Ram   ·   Leader: Ramasamy P   ·   Product: TerraSentinel AI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Satellites leave 1,355 moving points. The engine ranks the few that matter.</a:t>
            </a:r>
          </a:p>
          <a:p>
            <a:pPr>
              <a:spcBef>
                <a:spcPts val="0"/>
              </a:spcBef>
              <a:spcAft>
                <a:spcPts val="6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Gemini writes the ticket — every number checked. Live on Cloud Run + BigQuery.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Problem: InSAR portals give points, not who goes today. Chatbots invent mm.</a:t>
            </a:r>
          </a:p>
          <a:p>
            <a:pPr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Solution: 250 m sites · RPI · honest ETA bands · Gemini number guard.</a:t>
            </a: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14"/>
          <p:cNvSpPr txBox="1"/>
          <p:nvPr/>
        </p:nvSpPr>
        <p:spPr>
          <a:xfrm>
            <a:off x="5092475" y="1968750"/>
            <a:ext cx="3311400" cy="120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chemeClr val="lt1"/>
              </a:solidFill>
              <a:latin typeface="Google Sans Flex"/>
              <a:ea typeface="Google Sans Flex"/>
              <a:cs typeface="Google Sans Flex"/>
              <a:sym typeface="Google Sans Flex"/>
            </a:endParaRPr>
          </a:p>
        </p:txBody>
      </p:sp>
      <p:pic>
        <p:nvPicPr>
          <p:cNvPr id="64" name="Google Shape;64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24203" y="1194675"/>
            <a:ext cx="3604250" cy="2621725"/>
          </a:xfrm>
          <a:prstGeom prst="rect">
            <a:avLst/>
          </a:prstGeom>
          <a:noFill/>
          <a:ln>
            <a:noFill/>
          </a:ln>
          <a:effectLst>
            <a:outerShdw blurRad="971550" rotWithShape="0" algn="bl" dir="5400000" dist="19050">
              <a:schemeClr val="lt1">
                <a:alpha val="50000"/>
              </a:schemeClr>
            </a:outerShdw>
          </a:effectLst>
        </p:spPr>
      </p:pic>
      <p:sp>
        <p:nvSpPr>
          <p:cNvPr id="65" name="Rounded Rectangle 64"/>
          <p:cNvSpPr/>
          <p:nvPr/>
        </p:nvSpPr>
        <p:spPr>
          <a:xfrm>
            <a:off x="260000" y="380000"/>
            <a:ext cx="8624000" cy="45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260000" y="380000"/>
            <a:ext cx="36000" cy="45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0000" y="450000"/>
            <a:ext cx="382704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TERRASENTINEL AI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800" b="1">
                <a:solidFill>
                  <a:srgbClr val="0F1D1B"/>
                </a:solidFill>
                <a:latin typeface="Calibri"/>
              </a:rPr>
              <a:t>Satellites see the ground move.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766E"/>
                </a:solidFill>
                <a:latin typeface="Calibri"/>
              </a:rPr>
              <a:t>Gemini tells engineers where to go first.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330000" y="1160000"/>
            <a:ext cx="3827040" cy="1186666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30000" y="1160000"/>
            <a:ext cx="36000" cy="11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90000" y="1421066"/>
            <a:ext cx="3727040" cy="664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F766E"/>
                </a:solidFill>
                <a:latin typeface="Calibri"/>
              </a:rPr>
              <a:t>62,330 → 4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Observations become act-today sites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30000" y="2396666"/>
            <a:ext cx="3827040" cy="1186666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330000" y="2396666"/>
            <a:ext cx="36000" cy="1186666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90000" y="2657732"/>
            <a:ext cx="3727040" cy="664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C62828"/>
                </a:solidFill>
                <a:latin typeface="Calibri"/>
              </a:rPr>
              <a:t>RPI 86 · CRITICAL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NH-58 · 35–64 day outlook if trend continues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0000" y="3633332"/>
            <a:ext cx="3827040" cy="1186666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30000" y="3633332"/>
            <a:ext cx="36000" cy="11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90000" y="3894398"/>
            <a:ext cx="3727040" cy="6645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F766E"/>
                </a:solidFill>
                <a:latin typeface="Calibri"/>
              </a:rPr>
              <a:t>Gemini · verified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0F1D1B"/>
                </a:solidFill>
                <a:latin typeface="Calibri"/>
              </a:rPr>
              <a:t>6 tools · 7 numbers checked · 24h dispatch</a:t>
            </a:r>
          </a:p>
        </p:txBody>
      </p:sp>
      <p:pic>
        <p:nvPicPr>
          <p:cNvPr id="77" name="Picture 7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07040" y="766089"/>
            <a:ext cx="4536960" cy="374782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PROBLEM &amp; DECISION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Ground creeps for months. Nobody ranks which creep matters — crews go to the wrong place.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0000" y="13000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60000" y="1300000"/>
            <a:ext cx="36000" cy="6216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30000" y="13350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62828"/>
                </a:solidFill>
                <a:latin typeface="Calibri"/>
              </a:rPr>
              <a:t>NH-58 mountain highway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Sole valley access. One slip cuts towns, pilgrims, supply.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60000" y="19616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DF2E3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260000" y="1961600"/>
            <a:ext cx="36000" cy="6216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30000" y="19966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B45309"/>
                </a:solidFill>
                <a:latin typeface="Calibri"/>
              </a:rPr>
              <a:t>Chennai metro tunnels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Settlement under roads &amp; buildings. Tight tolerances.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60000" y="26232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60000" y="2623200"/>
            <a:ext cx="36000" cy="6216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30000" y="26582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64748B"/>
                </a:solidFill>
                <a:latin typeface="Calibri"/>
              </a:rPr>
              <a:t>Dams &amp; tailings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Crest/toe motion · severe downstream consequence.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0000" y="3284800"/>
            <a:ext cx="3622080" cy="621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260000" y="3284800"/>
            <a:ext cx="36000" cy="621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30000" y="3319800"/>
            <a:ext cx="3522080" cy="5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The one decision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After this pass: which 250 m, why, and how soon?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952080" y="1300000"/>
            <a:ext cx="4931920" cy="143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952080" y="1300000"/>
            <a:ext cx="36000" cy="143352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022080" y="1335000"/>
            <a:ext cx="483192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Today fails the decision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012080" y="1580000"/>
            <a:ext cx="4831920" cy="113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Raw InSAR portal — thousands of points, no asset link, no who-goes-today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Rainfall alarm — treats the trigger as the hazard; fires on stable ground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Generic AI chatbot — invents mm and failure dates; nothing to audit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Scheduled walk-over — calendar ignores which segment is accelerating now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952080" y="2803520"/>
            <a:ext cx="2430960" cy="1102880"/>
          </a:xfrm>
          <a:prstGeom prst="roundRect">
            <a:avLst>
              <a:gd name="adj" fmla="val 8000"/>
            </a:avLst>
          </a:prstGeom>
          <a:solidFill>
            <a:srgbClr val="E8F5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952080" y="2803520"/>
            <a:ext cx="36000" cy="1102880"/>
          </a:xfrm>
          <a:prstGeom prst="rect">
            <a:avLst/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002080" y="2833520"/>
            <a:ext cx="235096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5803D"/>
                </a:solidFill>
                <a:latin typeface="Calibri"/>
              </a:rPr>
              <a:t>We do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992080" y="3003520"/>
            <a:ext cx="2360960" cy="8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Progressive creep on linear assets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Rank · explain · track between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Threshold window + assumptions stated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453040" y="2803520"/>
            <a:ext cx="2430960" cy="110288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6453040" y="2803520"/>
            <a:ext cx="36000" cy="110288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03040" y="2833520"/>
            <a:ext cx="235096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C62828"/>
                </a:solidFill>
                <a:latin typeface="Calibri"/>
              </a:rPr>
              <a:t>We refuse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493040" y="3003520"/>
            <a:ext cx="2360960" cy="8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Failure / collapse dates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Sudden events between 6–12 d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Certified safety decisions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3976400"/>
            <a:ext cx="8624000" cy="943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3976400"/>
            <a:ext cx="36000" cy="943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20000" y="4001400"/>
            <a:ext cx="2200000" cy="90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One pass · demo data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25600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observations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8048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radar points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0496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250 m sites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944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CRIT/ELEV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7539200" y="4016400"/>
            <a:ext cx="1224800" cy="883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4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WHY WE WIN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Not another InSAR viewer — a consequence-ranked decision layer with guarded GenAI.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Differentiation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0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250 m chainage sites on corridor geometry — not a heat-map of every scatterer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RPI = hazard × consequence × confidence (deterministic Python / BigQuery)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Act list = today’s state; Alerts = what changed between passes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Rain amplifies only (+50% cap); USGS quakes never move a score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narrates tool results; the engine owns every number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WEAK radar guard — bad data can never become CRITICAL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How it solves it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208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Validate → locate on assets → measure speed / accel / progress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Classify with data-quality gate; rank Act-today shortlist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= [ETA_const, ETA_accel] band ≤ 365 d — never a date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Work order: summary · hypothesis · urgency · field checklist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Same maths locally or in BigQuery (TS_DATA_BACKEND flag)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History is re-run from data — every past score is reproducible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USP · live proof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106000" y="1620000"/>
            <a:ext cx="2738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Honest continuing-regime bands with assumptions spelled out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Number guard rejects invented mm and “will collapse” language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Live Cloud Run + BigQuery + Secret Manager + GCS state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Demo funnel: 62,330 obs → 87 sites → 7 action → 4 Act today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live: 6 tool calls · 7 numbers verified · 24h dispatch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Judge can sign in now — credentials on the login page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SURFACES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Every screen ships a decision an engineer can act on today.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26000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26000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00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Command Center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Map + KPIs + Act today — ranked by consequence, not raw mm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242975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242975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47975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Site drawer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RPI, speed vs baseline, rain trigger, outlook band, pass trend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459950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59950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464950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Alerts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Pass-to-pass diffs — what changed, not a duplicate Act list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769250" y="13000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769250" y="13000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19250" y="13450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Trends · Portfolio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16 passes recomputed from data; action sites 3→7 tracked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26000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26000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31000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Work Orders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Template-first ticket; Gemini polish; number guard on every figure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242975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242975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247975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Data 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Validate-then-import · Open-Meteo rain · provenance · BQ sync</a:t>
            </a:r>
          </a:p>
        </p:txBody>
      </p:sp>
      <p:sp>
        <p:nvSpPr>
          <p:cNvPr id="106" name="Rounded Rectangle 105"/>
          <p:cNvSpPr/>
          <p:nvPr/>
        </p:nvSpPr>
        <p:spPr>
          <a:xfrm>
            <a:off x="459950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459950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64950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Access &amp; audit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admin/analyst/viewer · CSRF · sessions · full audit log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6769250" y="3137500"/>
            <a:ext cx="2114750" cy="17825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6769250" y="3137500"/>
            <a:ext cx="36000" cy="17825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819250" y="3182500"/>
            <a:ext cx="2034750" cy="17125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Methodology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Published formulae — every score auditable by a geotech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STORY &amp; PROCESS FLOW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One satellite pass — from space to a crew at the right 250 metres.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00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2600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900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1 · Pass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Every 6–12 days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Sentinel-1 measures mm motion through cloud &amp; night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19988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9988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0288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2 · Map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Onto the corridor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1,355 points matched to highway / metro / dam → 87×250 m sites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7376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37376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7676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3 · Rank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What matters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Fast + accelerating + critical + good data rises; rain alone never alarms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54764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54764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5064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4 · Gemini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Write the ticket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7 tools → reason → JSON → number guard → field checklist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7215200" y="1300000"/>
            <a:ext cx="1668800" cy="17376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7215200" y="1300000"/>
            <a:ext cx="36000" cy="17376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245200" y="1350000"/>
            <a:ext cx="1608800" cy="1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5 · Next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1D1B"/>
                </a:solidFill>
                <a:latin typeface="Calibri"/>
              </a:rPr>
              <a:t>Keep watching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300" b="0">
                <a:solidFill>
                  <a:srgbClr val="475854"/>
                </a:solidFill>
                <a:latin typeface="Calibri"/>
              </a:rPr>
              <a:t/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Crew acts; next pass shows calm-down or worse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260000" y="3107600"/>
            <a:ext cx="5001920" cy="1812400"/>
          </a:xfrm>
          <a:prstGeom prst="roundRect">
            <a:avLst>
              <a:gd name="adj" fmla="val 8000"/>
            </a:avLst>
          </a:prstGeom>
          <a:solidFill>
            <a:srgbClr val="F4F7F6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26000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30000" y="3147600"/>
            <a:ext cx="488192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Demo funnel (labelled synthetic)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30000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62,330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obs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302384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1,355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pts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2274768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87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sites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247152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7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action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219536" y="3387600"/>
            <a:ext cx="952384" cy="1492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00" b="1">
                <a:solidFill>
                  <a:srgbClr val="0F766E"/>
                </a:solidFill>
                <a:latin typeface="Calibri"/>
              </a:rPr>
              <a:t>4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475854"/>
                </a:solidFill>
                <a:latin typeface="Calibri"/>
              </a:rPr>
              <a:t>Act today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5331920" y="3107600"/>
            <a:ext cx="3552080" cy="1812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5331920" y="3107600"/>
            <a:ext cx="36000" cy="18124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391920" y="3147600"/>
            <a:ext cx="3452080" cy="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Who it serves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381920" y="3367600"/>
            <a:ext cx="3462080" cy="151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Public: find problems while small — keep roads open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Engineers: short list + ticket (what / where / why)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Leaders: spend crews where risk is rising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PRODUCT UI (LIVE)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What judges open today — Command Center → site → Gemini ticket → Data Hub.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c-comma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88584" y="1336000"/>
            <a:ext cx="2204832" cy="154400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Command Center · Act list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c-s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60542" y="1336000"/>
            <a:ext cx="1584916" cy="1544000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· RPI &amp; outlook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1" name="Picture 110" descr="c-workorder-ai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3589" y="3196000"/>
            <a:ext cx="2654822" cy="1544000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work order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4" name="Picture 113" descr="c-datahub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09387" y="3196000"/>
            <a:ext cx="2487225" cy="1544000"/>
          </a:xfrm>
          <a:prstGeom prst="rect">
            <a:avLst/>
          </a:prstGeom>
        </p:spPr>
      </p:pic>
      <p:sp>
        <p:nvSpPr>
          <p:cNvPr id="115" name="TextBox 114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 Hub · validate then import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ARCHITECTURE STORY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Ingest → Store → Compute → Snapshot → Serve. One container. GenAI never owns the maths.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2600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2600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2900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Data Hub validates
files &amp; HTTPS links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19988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19988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0288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 or local
GIS join · history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37376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37376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37676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Detection engine
RPI · tier · band</a:t>
            </a:r>
          </a:p>
        </p:txBody>
      </p:sp>
      <p:sp>
        <p:nvSpPr>
          <p:cNvPr id="121" name="Rounded Rectangle 120"/>
          <p:cNvSpPr/>
          <p:nvPr/>
        </p:nvSpPr>
        <p:spPr>
          <a:xfrm>
            <a:off x="54764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54764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55064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Snapshot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Pass replay
alerts · trends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7215200" y="1300000"/>
            <a:ext cx="1668800" cy="13032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7215200" y="1300000"/>
            <a:ext cx="36000" cy="13032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7245200" y="1350000"/>
            <a:ext cx="1608800" cy="122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Serve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UI + Gemini ticket
audit trail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260000" y="267320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260000" y="267320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340000" y="270320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EDGE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10000" y="270320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Cloud Run · HTTPS · CSP/HSTS · rate limits · sessions · GCS state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260000" y="312856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260000" y="312856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40000" y="315856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UI + API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910000" y="315856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React/MapLibre · FastAPI · RBAC · CSRF · SSRF-safe fetch · audit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260000" y="358392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260000" y="358392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40000" y="361392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ENGINE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910000" y="361392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Deterministic RPI / tiers / ETA bands / alerts — GenAI never computes these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260000" y="403928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Rectangle 139"/>
          <p:cNvSpPr/>
          <p:nvPr/>
        </p:nvSpPr>
        <p:spPr>
          <a:xfrm>
            <a:off x="260000" y="403928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40000" y="406928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GENAI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910000" y="406928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Gemini tools → number guard → template fallback (Vertex or AI Studio)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4494640"/>
            <a:ext cx="8624000" cy="425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4494640"/>
            <a:ext cx="36000" cy="42536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4524640"/>
            <a:ext cx="1500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DATA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910000" y="4524640"/>
            <a:ext cx="6824000" cy="385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BigQuery partitions/GEOGRAPHY XOR local · USGS context only · provenance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GENAI ON GOOGLE CLOUD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Without GenAI: a number. With Gemini + guard: a ticket an engineer can trust.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260000" y="1300000"/>
            <a:ext cx="8624000" cy="50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260000" y="1300000"/>
            <a:ext cx="36000" cy="50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30000" y="1350000"/>
            <a:ext cx="848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1D1B"/>
                </a:solidFill>
                <a:latin typeface="Calibri"/>
              </a:rPr>
              <a:t>LIVE PROOF: Gemini drafted a Metro Line 4 ticket with 6 tool calls and 7 numbers verified. Recommendation: “Dispatch an inspection crew within 24 hours…” — every millimetre from tools, not free text.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2600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2600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850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Ingest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Cloud Run
Data Hub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19988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9988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20238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Store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BigQuery
GIS + history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37376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37376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7626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Compute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Engine
RPI · tier · band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54764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54764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55014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Calibri"/>
              </a:rPr>
              <a:t>Explain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>Gemini
+ number guard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7215200" y="1870000"/>
            <a:ext cx="1668800" cy="1159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15200" y="1870000"/>
            <a:ext cx="36000" cy="115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240200" y="1905000"/>
            <a:ext cx="1618800" cy="110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Act</a:t>
            </a:r>
          </a:p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800" b="0">
                <a:solidFill>
                  <a:srgbClr val="475854"/>
                </a:solidFill>
                <a:latin typeface="Calibri"/>
              </a:rPr>
              <a:t>Map · ticket
· audit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10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loop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00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7 tools: metrics, history, outlook, rain, seismic, exposure, quality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Round 0 MUST call tools → investigate → write JSON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Temp 0.1 · model fallback on 429/5xx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3158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3158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3208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Number guard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198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Rejects any mm/days/% not in a tool result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Rejects “will collapse”, “failure date”, “no risk”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On failure: labelled template still ships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6056000" y="3099000"/>
            <a:ext cx="2828000" cy="1801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6056000" y="3099000"/>
            <a:ext cx="36000" cy="1801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6106000" y="3134000"/>
            <a:ext cx="2748000" cy="1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GCP stack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6096000" y="3319000"/>
            <a:ext cx="2758000" cy="155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Cloud Run — SPA + API + engine + agent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BigQuery — partitions, ST_DWITHIN, bytes cap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Vertex/AI Studio · Secrets · GCS · ADC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ESTIMATED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GenAI only on tickets; ranking stays deterministic CPU.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60000" y="1300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260000" y="1300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40000" y="1350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Cloud Run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460000" y="1350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1–2 vCPU / 2 GiB · min=1 while judging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760000" y="1350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low tens USD/mo warm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260000" y="2038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260000" y="2038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40000" y="2088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BigQuery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2460000" y="2088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~62k rows · TTL cache · max bytes billed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760000" y="2088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pennies–low USD demos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260000" y="2776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260000" y="2776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340000" y="2826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Gemini Flash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2460000" y="2826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Work-order path only · template fallback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6760000" y="2826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per-ticket, optional</a:t>
            </a:r>
          </a:p>
        </p:txBody>
      </p:sp>
      <p:sp>
        <p:nvSpPr>
          <p:cNvPr id="143" name="Rounded Rectangle 142"/>
          <p:cNvSpPr/>
          <p:nvPr/>
        </p:nvSpPr>
        <p:spPr>
          <a:xfrm>
            <a:off x="260000" y="3514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260000" y="3514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340000" y="3564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Secrets + GCS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60000" y="3564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Admin/Gemini secrets · state volume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760000" y="3564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pennies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260000" y="4252000"/>
            <a:ext cx="8624000" cy="668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260000" y="4252000"/>
            <a:ext cx="36000" cy="668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40000" y="4302000"/>
            <a:ext cx="20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Scale path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2460000" y="4302000"/>
            <a:ext cx="4200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Materialize assignment · raise instances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6760000" y="4302000"/>
            <a:ext cx="1924000" cy="588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475854"/>
                </a:solidFill>
                <a:latin typeface="Calibri"/>
              </a:rPr>
              <a:t>linear with corridors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PROTOTYPE SNAPSHOTS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200" b="1">
                <a:solidFill>
                  <a:srgbClr val="0F1D1B"/>
                </a:solidFill>
                <a:latin typeface="Calibri"/>
              </a:rPr>
              <a:t>Winning proof on screen — Chamoli Act list, NH-58 CRITICAL, verified Gemini ticket.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260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7" name="Picture 136" descr="c-hero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56448" y="1336000"/>
            <a:ext cx="1869103" cy="1544000"/>
          </a:xfrm>
          <a:prstGeom prst="rect">
            <a:avLst/>
          </a:prstGeom>
        </p:spPr>
      </p:pic>
      <p:sp>
        <p:nvSpPr>
          <p:cNvPr id="138" name="TextBox 137"/>
          <p:cNvSpPr txBox="1"/>
          <p:nvPr/>
        </p:nvSpPr>
        <p:spPr>
          <a:xfrm>
            <a:off x="280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Chamoli · 69 sites · 4 act today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622000" y="130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0" name="Picture 139" descr="c-map-chamoli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14420" y="1336000"/>
            <a:ext cx="1677159" cy="1544000"/>
          </a:xfrm>
          <a:prstGeom prst="rect">
            <a:avLst/>
          </a:prstGeom>
        </p:spPr>
      </p:pic>
      <p:sp>
        <p:nvSpPr>
          <p:cNvPr id="141" name="TextBox 140"/>
          <p:cNvSpPr txBox="1"/>
          <p:nvPr/>
        </p:nvSpPr>
        <p:spPr>
          <a:xfrm>
            <a:off x="4642000" y="293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Ranked map — not every scatterer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260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3" name="Picture 142" descr="c-s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98542" y="3196000"/>
            <a:ext cx="1584916" cy="1544000"/>
          </a:xfrm>
          <a:prstGeom prst="rect">
            <a:avLst/>
          </a:prstGeom>
        </p:spPr>
      </p:pic>
      <p:sp>
        <p:nvSpPr>
          <p:cNvPr id="144" name="TextBox 143"/>
          <p:cNvSpPr txBox="1"/>
          <p:nvPr/>
        </p:nvSpPr>
        <p:spPr>
          <a:xfrm>
            <a:off x="280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NH-58 · RPI 86 · 35-64 day band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4622000" y="3160000"/>
            <a:ext cx="4262000" cy="1616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6" name="Picture 145" descr="c-workorder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50480" y="3196000"/>
            <a:ext cx="2005040" cy="1544000"/>
          </a:xfrm>
          <a:prstGeom prst="rect">
            <a:avLst/>
          </a:prstGeom>
        </p:spPr>
      </p:pic>
      <p:sp>
        <p:nvSpPr>
          <p:cNvPr id="147" name="TextBox 146"/>
          <p:cNvSpPr txBox="1"/>
          <p:nvPr/>
        </p:nvSpPr>
        <p:spPr>
          <a:xfrm>
            <a:off x="4642000" y="4796000"/>
            <a:ext cx="4222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Gemini · numbers verified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WORKED PROOF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NH-58 KM 3.25–3.50 — same numbers in UI, tools, and Gemini work order.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260000" y="1300000"/>
            <a:ext cx="4277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20000" y="1340000"/>
            <a:ext cx="4177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CRITICAL · RPI 86 · band 35–64 d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310000" y="1620000"/>
            <a:ext cx="4187000" cy="3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Inputs: 6.2 vs 2.8 mm/mo · 2.2× · 29.7/40 mm · rain 213 mm · crit 0.95 · conf 0.97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kin = 100×(.4·0.62 + .3·0.40 + .3·0.74) = 59.4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hazard = 59.4×(1+0.5×1.0) = 89.1 (rain capped)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RPI = 89.1×0.975×0.985 ≈ 85.7 → CRITICAL (threshold approach)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Outlook: 51 d const · 44 d accel → widened 35–64 d if trend continues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History: this site 61→86 · portfolio action sites 3→7 over 16 passes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What-if: minor road→57 ELEV · weak radar→≤15 WEAK · rain on stable→≈1</a:t>
            </a:r>
          </a:p>
          <a:p>
            <a:pPr>
              <a:spcAft>
                <a:spcPts val="300"/>
              </a:spcAft>
            </a:pPr>
            <a:r>
              <a:rPr sz="800">
                <a:solidFill>
                  <a:srgbClr val="0F1D1B"/>
                </a:solidFill>
                <a:latin typeface="Calibri"/>
              </a:rPr>
              <a:t>•  Integrity: GenAI never computes RPI / tier / ETA — tools only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4607000" y="1300000"/>
            <a:ext cx="4277000" cy="1847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9" name="Picture 148" descr="c-site-tr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5819" y="1336000"/>
            <a:ext cx="2039361" cy="1775000"/>
          </a:xfrm>
          <a:prstGeom prst="rect">
            <a:avLst/>
          </a:prstGeom>
        </p:spPr>
      </p:pic>
      <p:sp>
        <p:nvSpPr>
          <p:cNvPr id="150" name="TextBox 149"/>
          <p:cNvSpPr txBox="1"/>
          <p:nvPr/>
        </p:nvSpPr>
        <p:spPr>
          <a:xfrm>
            <a:off x="4627000" y="3167000"/>
            <a:ext cx="4237000" cy="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Site trend · displacement + rain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4607000" y="3371000"/>
            <a:ext cx="4277000" cy="1549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607000" y="3371000"/>
            <a:ext cx="36000" cy="1549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657000" y="3411000"/>
            <a:ext cx="4197000" cy="1489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0F766E"/>
                </a:solidFill>
                <a:latin typeface="Calibri"/>
              </a:rPr>
              <a:t>Live Cloud Run + BigQuery (warm)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summary ~0.4s · sites ~0.3s · alerts ~2s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0">
                <a:solidFill>
                  <a:srgbClr val="0F1D1B"/>
                </a:solidFill>
                <a:latin typeface="Calibri"/>
              </a:rPr>
              <a:t>Hot-path prefetch before history warm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Gemini: 6 tool calls · 7 numbers verified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ASK · BUYER · ROADMAP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Sustainability impact today. Scale tomorrow. Honesty rules never move.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60000" y="1300000"/>
            <a:ext cx="8624000" cy="520000"/>
          </a:xfrm>
          <a:prstGeom prst="roundRect">
            <a:avLst>
              <a:gd name="adj" fmla="val 8000"/>
            </a:avLst>
          </a:prstGeom>
          <a:solidFill>
            <a:srgbClr val="0F766E"/>
          </a:solidFill>
          <a:ln w="9525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40000" y="1360000"/>
            <a:ext cx="8464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THE ASK: Review the live demo, the 3-minute video, and the repository.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Calibri"/>
              </a:rPr>
              <a:t>Buyer: asset-integrity / geotech teams. They buy engineer attention — 1,355 points become 7 sites.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60000" y="1890000"/>
            <a:ext cx="4277000" cy="303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260000" y="1890000"/>
            <a:ext cx="36000" cy="303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320000" y="1930000"/>
            <a:ext cx="4177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Roadmap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310000" y="2170000"/>
            <a:ext cx="4187000" cy="2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Production InSAR providers on the same Data Hub schema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Materialize spatial assignment for national corridors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HA when session store leaves single-process files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OIDC / IAP · field offline packet · deeper amplifiers only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4607000" y="1890000"/>
            <a:ext cx="4277000" cy="303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4607000" y="1890000"/>
            <a:ext cx="36000" cy="303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4667000" y="1930000"/>
            <a:ext cx="4177000" cy="2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C62828"/>
                </a:solidFill>
                <a:latin typeface="Calibri"/>
              </a:rPr>
              <a:t>Non-negotiable honesty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657000" y="2170000"/>
            <a:ext cx="4187000" cy="2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Outlook bands ≠ collapse / failure dates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Gemini narrates tool numbers only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Synthetic demo data labelled in the UI — always</a:t>
            </a:r>
          </a:p>
          <a:p>
            <a:pPr>
              <a:spcAft>
                <a:spcPts val="300"/>
              </a:spcAft>
            </a:pPr>
            <a:r>
              <a:rPr sz="900">
                <a:solidFill>
                  <a:srgbClr val="0F1D1B"/>
                </a:solidFill>
                <a:latin typeface="Calibri"/>
              </a:rPr>
              <a:t>•  Secrets in Secret Manager / .env — never in git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>
                <a:solidFill>
                  <a:srgbClr val="0F766E"/>
                </a:solidFill>
                <a:latin typeface="Calibri"/>
              </a:rPr>
              <a:t>JUDGE PATH · LINKS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F1D1B"/>
                </a:solidFill>
                <a:latin typeface="Calibri"/>
              </a:rPr>
              <a:t>Sign in → Command Center → NH-58 site → Work Order → Data Hub (5 minutes).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260000" y="1300000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260000" y="1300000"/>
            <a:ext cx="36000" cy="986666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350000" y="1350000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GitHub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https://github.com/ramasamyp-aiengineer/terra-sentinel-ai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260000" y="2356666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260000" y="2356666"/>
            <a:ext cx="36000" cy="98666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50000" y="2406666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Demo video (3 min)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docs/pitch/TerraSentinel-AI-Demo-3min.mp4 — upload to Drive/YouTube for the portal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260000" y="3413332"/>
            <a:ext cx="8624000" cy="98666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260000" y="3413332"/>
            <a:ext cx="36000" cy="98666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350000" y="3463332"/>
            <a:ext cx="8464000" cy="90666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3 · Live product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0">
                <a:solidFill>
                  <a:srgbClr val="0F1D1B"/>
                </a:solidFill>
                <a:latin typeface="Calibri"/>
              </a:rPr>
              <a:t>https://terrasentinel-598899050820.asia-southeast1.run.app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260000" y="4469998"/>
            <a:ext cx="8624000" cy="450000"/>
          </a:xfrm>
          <a:prstGeom prst="roundRect">
            <a:avLst>
              <a:gd name="adj" fmla="val 8000"/>
            </a:avLst>
          </a:prstGeom>
          <a:solidFill>
            <a:srgbClr val="E7F4F1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60000" y="4469998"/>
            <a:ext cx="36000" cy="45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340000" y="4519998"/>
            <a:ext cx="8464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100" b="1">
                <a:solidFill>
                  <a:srgbClr val="0F766E"/>
                </a:solidFill>
                <a:latin typeface="Calibri"/>
              </a:rPr>
              <a:t>Credentials are shown on the sign-in page (judge demo hint).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>
                <a:solidFill>
                  <a:srgbClr val="0F1D1B"/>
                </a:solidFill>
                <a:latin typeface="Calibri"/>
              </a:rPr>
              <a:t>Look for: Act list · outlook band (not a date) · “numbers verified” on the work order.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260000" y="580000"/>
            <a:ext cx="8624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900" b="1">
                <a:solidFill>
                  <a:srgbClr val="0F766E"/>
                </a:solidFill>
                <a:latin typeface="Calibri"/>
              </a:rPr>
              <a:t>RISK ENGINE MATHS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300" b="1">
                <a:solidFill>
                  <a:srgbClr val="0F1D1B"/>
                </a:solidFill>
                <a:latin typeface="Calibri"/>
              </a:rPr>
              <a:t>Measure → Score → Project. Deterministic, tested, explainable.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260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260000" y="1300000"/>
            <a:ext cx="36000" cy="3620000"/>
          </a:xfrm>
          <a:prstGeom prst="rect">
            <a:avLst/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0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0F766E"/>
                </a:solidFill>
                <a:latin typeface="Calibri"/>
              </a:rPr>
              <a:t>1 · Measure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10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Recent speed: slope last 60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Baseline: 270 to 90 d ago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Accel = |recent|/max(|base|,0.5)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Persistence · seasonal recovery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Site = median in 250 m bin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conf mixes coh·epochs·pts·SNR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data can never be CRITICAL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3158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Rectangle 172"/>
          <p:cNvSpPr/>
          <p:nvPr/>
        </p:nvSpPr>
        <p:spPr>
          <a:xfrm>
            <a:off x="3158000" y="1300000"/>
            <a:ext cx="36000" cy="362000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3218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B45309"/>
                </a:solidFill>
                <a:latin typeface="Calibri"/>
              </a:rPr>
              <a:t>2 · Score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3208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kin=100*(.4s+.3a+.3p)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hazard=kin*(1+0.5*rain/200)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RPI=hazard*(0.5+0.5*crit)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      *(0.5+0.5*conf)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Slow/far x0.2 · seasonal x0.35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WEAK cap 15 · quakes never scored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CRITICAL / ELEVATED / WATCH</a:t>
            </a:r>
          </a:p>
        </p:txBody>
      </p:sp>
      <p:sp>
        <p:nvSpPr>
          <p:cNvPr id="176" name="Rounded Rectangle 175"/>
          <p:cNvSpPr/>
          <p:nvPr/>
        </p:nvSpPr>
        <p:spPr>
          <a:xfrm>
            <a:off x="6056000" y="1300000"/>
            <a:ext cx="2828000" cy="36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DD7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6056000" y="1300000"/>
            <a:ext cx="36000" cy="3620000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6116000" y="1350000"/>
            <a:ext cx="2728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C62828"/>
                </a:solidFill>
                <a:latin typeface="Calibri"/>
              </a:rPr>
              <a:t>3 · Project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6106000" y="1630000"/>
            <a:ext cx="2738000" cy="3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ETA_const = remaining / speed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ETA_accel = quadratic root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band=[min,max] &lt;= 365 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Highway 40 mm / 180 d demo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Metro 25 mm · Dam 30 mm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ALWAYS a band</a:t>
            </a:r>
          </a:p>
          <a:p>
            <a:pPr>
              <a:spcAft>
                <a:spcPts val="300"/>
              </a:spcAft>
            </a:pPr>
            <a:r>
              <a:rPr sz="1000">
                <a:solidFill>
                  <a:srgbClr val="0F1D1B"/>
                </a:solidFill>
                <a:latin typeface="Calibri"/>
              </a:rPr>
              <a:t>•  NEVER a failure date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