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sz="2200" b="1">
                <a:solidFill>
                  <a:srgbClr val="0F766E"/>
                </a:solidFill>
                <a:latin typeface="Calibri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Team name:  Agent Ram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D1B"/>
                </a:solidFill>
                <a:latin typeface="Calibri"/>
              </a:rPr>
              <a:t>Team leader:  Ramasamy P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854"/>
                </a:solidFill>
                <a:latin typeface="Calibri"/>
              </a:rPr>
              <a:t>Track:  Sustainability · Google Cloud AI Builder Cup 2026 (JAPAC)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D1B"/>
                </a:solidFill>
                <a:latin typeface="Calibri"/>
              </a:rPr>
              <a:t>Problem:  Operators receive millimetre-scale InSAR motion, but not a ranked, consequence-aware shortlist of which 250 m corridor segment to inspect today — with an honest time-to-threshold band (never a failure date) and a traceable ticket.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Product:  TerraSentinel AI — ground-motion early warning for roads, metros and dams.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sz="2600" b="1">
                <a:solidFill>
                  <a:srgbClr val="0F766E"/>
                </a:solidFill>
                <a:latin typeface="Calibri"/>
              </a:rPr>
              <a:t>TerraSentinel AI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Which 250 metres should an engineer inspect today?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75854"/>
                </a:solidFill>
                <a:latin typeface="Calibri"/>
              </a:rPr>
              <a:t>Satellites measure motion. TerraSentinel ranks consequence. Gemini drafts the ticket — every number from tools, never invented.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66E"/>
                </a:solidFill>
                <a:latin typeface="Calibri"/>
              </a:rPr>
              <a:t>Live · BigQuery · Cloud Run · labelled synthetic demo data</a:t>
            </a: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80000" y="1320000"/>
            <a:ext cx="8584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0F1D1B"/>
                </a:solidFill>
                <a:latin typeface="Calibri"/>
              </a:rPr>
              <a:t>•  Idea: turn InSAR point clouds into a consequence-ranked Act list for critical infrastructure.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F1D1B"/>
                </a:solidFill>
                <a:latin typeface="Calibri"/>
              </a:rPr>
              <a:t>•  Maths (Python / BigQuery SQL) compute speed, acceleration, progress, RPI, tier and ETA bands.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F1D1B"/>
                </a:solidFill>
                <a:latin typeface="Calibri"/>
              </a:rPr>
              <a:t>•  Gemini reasons and drafts inspection tickets from tool results only — a number guard rejects ungrounded figures.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F1D1B"/>
                </a:solidFill>
                <a:latin typeface="Calibri"/>
              </a:rPr>
              <a:t>•  Rain amplifies hazard; it never creates a tier alone. USGS earthquakes are context only.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F1D1B"/>
                </a:solidFill>
                <a:latin typeface="Calibri"/>
              </a:rPr>
              <a:t>•  Outlook = time-to-threshold band if today’s trend continues — never a collapse / failure date.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F1D1B"/>
                </a:solidFill>
                <a:latin typeface="Calibri"/>
              </a:rPr>
              <a:t>•  Shipped: FastAPI + React/MapLibre on Cloud Run, optional BigQuery warehouse, Data Hub validate-then-import.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F1D1B"/>
                </a:solidFill>
                <a:latin typeface="Calibri"/>
              </a:rPr>
              <a:t>•  Honesty: bundled corridors are synthetic demonstration data, labelled in the 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80000" y="1900000"/>
            <a:ext cx="2821333" cy="29435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0000" y="1960000"/>
            <a:ext cx="266133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Differentiation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0000" y="2260000"/>
            <a:ext cx="2721333" cy="252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Not another InSAR viewer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250 m chainage sites + RPI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Consequence × hazard × confidence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Pass-to-pass alerts (diffs)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Gemini narrates; engine decides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61333" y="1900000"/>
            <a:ext cx="2821333" cy="29435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241333" y="1960000"/>
            <a:ext cx="266133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How it solves it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11333" y="2260000"/>
            <a:ext cx="2721333" cy="252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Ingest → locate → measure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Classify + WEAK data guard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Rank Act-today shortlist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Outlook band (const + accel)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Work order with verified numbers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42666" y="1900000"/>
            <a:ext cx="2821333" cy="29435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22666" y="1960000"/>
            <a:ext cx="266133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92666" y="2260000"/>
            <a:ext cx="2721333" cy="252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Honest ETA bands, not dates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Number-guarded GenAI tickets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Same maths: local or BigQuery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Production posture on GCP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D1B"/>
                </a:solidFill>
                <a:latin typeface="Calibri"/>
              </a:rPr>
              <a:t>•  Judge can sign in and 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80000" y="1320000"/>
            <a:ext cx="8584000" cy="3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Command Center — map, KPIs, Act today list (CRITICAL / ELEVATED ranked by consequence)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Site drawer — RPI, speed, rain trigger, outlook band, trend across satellite passes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Alerts — what changed between passes (not a duplicate of the Act list)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Morning Brief · Early Warning · Trends · Corridors · Portfolio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Work Orders — template-first ticket; optional Gemini polish; tool-grounded numbers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Data Hub — validate-then-import (CSV/GeoJSON), rainfall fetch, provenance, BigQuery sync, reset to demo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Access — admin / analyst / viewer RBAC, session auth, audit log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Methodology page — published formulae so every score is reproducible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80000" y="1360000"/>
            <a:ext cx="1192000" cy="20000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000" y="1440000"/>
            <a:ext cx="1132000" cy="1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1 Ingest</a:t>
            </a:r>
          </a:p>
          <a:p>
            <a:pPr algn="ctr">
              <a:spcAft>
                <a:spcPts val="4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Points, series,
rain, assets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512000" y="1360000"/>
            <a:ext cx="1192000" cy="20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542000" y="1440000"/>
            <a:ext cx="1132000" cy="1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2 Locate</a:t>
            </a:r>
          </a:p>
          <a:p>
            <a:pPr algn="ctr">
              <a:spcAft>
                <a:spcPts val="4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250 m bins on
corridor geometry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44000" y="1360000"/>
            <a:ext cx="1192000" cy="20000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74000" y="1440000"/>
            <a:ext cx="1132000" cy="1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3 Measure</a:t>
            </a:r>
          </a:p>
          <a:p>
            <a:pPr algn="ctr">
              <a:spcAft>
                <a:spcPts val="4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Speed · accel
progress · noise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976000" y="1360000"/>
            <a:ext cx="1192000" cy="20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06000" y="1440000"/>
            <a:ext cx="1132000" cy="1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4 Classify</a:t>
            </a:r>
          </a:p>
          <a:p>
            <a:pPr algn="ctr">
              <a:spcAft>
                <a:spcPts val="4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State + WEAK
data guard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208000" y="1360000"/>
            <a:ext cx="1192000" cy="20000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38000" y="1440000"/>
            <a:ext cx="1132000" cy="1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5 Rank</a:t>
            </a:r>
          </a:p>
          <a:p>
            <a:pPr algn="ctr">
              <a:spcAft>
                <a:spcPts val="4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RPI × tier
Act list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440000" y="1360000"/>
            <a:ext cx="1192000" cy="20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70000" y="1440000"/>
            <a:ext cx="1132000" cy="1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6 Outlook</a:t>
            </a:r>
          </a:p>
          <a:p>
            <a:pPr algn="ctr">
              <a:spcAft>
                <a:spcPts val="4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ETA band
(not a date)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72000" y="1360000"/>
            <a:ext cx="1192000" cy="20000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02000" y="1440000"/>
            <a:ext cx="1132000" cy="1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7 Explain</a:t>
            </a:r>
          </a:p>
          <a:p>
            <a:pPr algn="ctr">
              <a:spcAft>
                <a:spcPts val="4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Gemini ticket
+ number guard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0000" y="3440000"/>
            <a:ext cx="858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854"/>
                </a:solidFill>
                <a:latin typeface="Calibri"/>
              </a:rPr>
              <a:t>Use-case: Corridor engineer opens Command Center → selects CRITICAL NH-58 KM 3.25–3.50 → reads 35–64 day threshold band if trend continues → generates inspection work order.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app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00" y="1320000"/>
            <a:ext cx="4262000" cy="166175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280000" y="299175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</a:t>
            </a:r>
          </a:p>
        </p:txBody>
      </p:sp>
      <p:pic>
        <p:nvPicPr>
          <p:cNvPr id="106" name="Picture 105" descr="app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2000" y="1320000"/>
            <a:ext cx="4262000" cy="166175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4602000" y="299175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NH-58</a:t>
            </a:r>
          </a:p>
        </p:txBody>
      </p:sp>
      <p:pic>
        <p:nvPicPr>
          <p:cNvPr id="108" name="Picture 107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000" y="3131750"/>
            <a:ext cx="4262000" cy="166175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280000" y="480350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Work Order</a:t>
            </a:r>
          </a:p>
        </p:txBody>
      </p:sp>
      <p:pic>
        <p:nvPicPr>
          <p:cNvPr id="110" name="Picture 109" descr="app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000" y="3131750"/>
            <a:ext cx="4262000" cy="166175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4602000" y="480350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80000" y="1320000"/>
            <a:ext cx="8584000" cy="563916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80000" y="1370000"/>
            <a:ext cx="8384000" cy="48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L5 Edge   —   Cloud Run · HTTPS · CSP · CSRF · rate limits · sessions · GCS state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80000" y="1913916"/>
            <a:ext cx="8584000" cy="563916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80000" y="1963916"/>
            <a:ext cx="8384000" cy="48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L4 Experience   —   React SPA · MapLibre · React Query · RBAC UI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80000" y="2507832"/>
            <a:ext cx="8584000" cy="563916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0000" y="2557832"/>
            <a:ext cx="8384000" cy="48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L3 API   —   FastAPI · auth · audit · SSRF-safe fetch · Data Hub ingest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0000" y="3101748"/>
            <a:ext cx="8584000" cy="563916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80000" y="3151748"/>
            <a:ext cx="8384000" cy="48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L2 Intelligence   —   Detection engine · RPI · tiers · ETA bands · alerts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0000" y="3695664"/>
            <a:ext cx="8584000" cy="563916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80000" y="3745664"/>
            <a:ext cx="8384000" cy="48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L1 GenAI   —   Gemini tool-calling · number guard · template fallback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80000" y="4289580"/>
            <a:ext cx="8584000" cy="563916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0000" y="4339580"/>
            <a:ext cx="8384000" cy="48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L0 Data   —   Local workspace XOR BigQuery · USGS public context (never scores)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80000" y="1320000"/>
            <a:ext cx="2821333" cy="35500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0000" y="1400000"/>
            <a:ext cx="2661333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Google Cloud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0000" y="1740000"/>
            <a:ext cx="2701333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Cloud Run (max-instances=1)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Cloud Build + Artifact Registry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BigQuery (partitioned InSAR)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Secret Manager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Cloud Storage (state volume)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Gemini API (work orders)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161333" y="1320000"/>
            <a:ext cx="2821333" cy="35500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241333" y="1400000"/>
            <a:ext cx="2661333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Application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21333" y="1740000"/>
            <a:ext cx="2701333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Python 3.12 · FastAPI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Deterministic detection engine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React · Vite · MapLibre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TanStack Query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Session auth + RBAC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Validate-then-import 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042666" y="1320000"/>
            <a:ext cx="2821333" cy="3550000"/>
          </a:xfrm>
          <a:prstGeom prst="roundRect">
            <a:avLst/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122666" y="1400000"/>
            <a:ext cx="2661333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Data &amp; integrity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02666" y="1740000"/>
            <a:ext cx="2701333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Synthetic demo (labelled)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Open-Meteo rainfall fetch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USGS seismicity (context)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Number guard on Gemini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Provenance registry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D1B"/>
                </a:solidFill>
                <a:latin typeface="Calibri"/>
              </a:rPr>
              <a:t>•  pytest + security checklist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80000" y="1320000"/>
            <a:ext cx="8584000" cy="3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Cup demo posture (kept warm): Cloud Run 1 vCPU / 2 GiB, min-instances=1 during judging — small continuous cost.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BigQuery: demo dataset ~62k time-series rows; queries cached in-process (TTL); hard max-bytes-billed guard.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Gemini Flash: work-order narratives only; template fallback if quota/latency — no GenAI on the hot ranking path.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Secret Manager + GCS state: pennies at demo scale.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Scale path: raise instances, materialize point-assignment, keep engine deterministic so GenAI spend stays optional.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Estimated Cup-month ops (order of magnitude): low tens of USD if kept warm; near-zero if scaled to zero off-hours.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00" y="1320000"/>
            <a:ext cx="4262000" cy="166175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280000" y="299175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Map · corridor risk</a:t>
            </a:r>
          </a:p>
        </p:txBody>
      </p:sp>
      <p:pic>
        <p:nvPicPr>
          <p:cNvPr id="138" name="Picture 137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2000" y="1320000"/>
            <a:ext cx="4262000" cy="166175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602000" y="299175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ranked sites</a:t>
            </a:r>
          </a:p>
        </p:txBody>
      </p:sp>
      <p:pic>
        <p:nvPicPr>
          <p:cNvPr id="140" name="Picture 139" descr="c-site-n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000" y="3131750"/>
            <a:ext cx="4262000" cy="166175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280000" y="480350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Now · RPI / outlook</a:t>
            </a:r>
          </a:p>
        </p:txBody>
      </p:sp>
      <p:pic>
        <p:nvPicPr>
          <p:cNvPr id="142" name="Picture 141" descr="c-workorder-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000" y="3131750"/>
            <a:ext cx="4262000" cy="166175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602000" y="4803500"/>
            <a:ext cx="4262000" cy="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80000" y="1320000"/>
            <a:ext cx="8584000" cy="3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Demo corpus: 1,355 scatterers · ~62,330 displacement rows · 87 sites of 250 m · 7 CRITICAL/ELEVATED on latest pass.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Worked site NH-58 KM 3.25–3.50: RPI 86 · ~6.2 mm/month · outlook band 35–64 days if trend continues.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Integrity: GenAI never computes RPI/tier/ETA; template path always available; synthetic data labelled.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Latency (live Cloud Run + BigQuery, warm): region summary ~0.4 s · sites ~0.3 s · alerts ~2 s (after hot-path prefetch).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Cold start mitigated: startup prefetch of BigQuery frames + current rankings before historical warm.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Security: CSRF header, cookie sessions, rate limits, RBAC, audit events, no secrets in git.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Tests: pytest suite covering engine, ingest, auth hardening, BigQuery fake runner.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80000" y="1320000"/>
            <a:ext cx="8584000" cy="3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Connect production InSAR providers (same schema; Data Hub validate-then-import already in place).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Materialize spatial point-assignment in BigQuery for national-scale corridors.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Multi-region HA and horizontal Cloud Run when session store moves off single-process files.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Operator workflows: assign/escalate SLAs, mobile field checklist, offline packet export.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Deeper rain + geology covariates as amplifiers only — never sole drivers of tier.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0F1D1B"/>
                </a:solidFill>
                <a:latin typeface="Calibri"/>
              </a:rPr>
              <a:t>•  Keep the non-negotiable: outlook bands ≠ failure dates; GenAI narrates tools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280000" y="1320000"/>
            <a:ext cx="8584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Submission links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GitHub public repository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66E"/>
                </a:solidFill>
                <a:latin typeface="Calibri"/>
              </a:rPr>
              <a:t>https://github.com/ramasamyp-aiengineer/terra-sentinel-ai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Demo video (3 minutes)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854"/>
                </a:solidFill>
                <a:latin typeface="Calibri"/>
              </a:rPr>
              <a:t>See repo: docs/pitch/TerraSentinel-AI-Demo-3min.mp4  (upload to Drive/YouTube for the portal)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Final product (live)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66E"/>
                </a:solidFill>
                <a:latin typeface="Calibri"/>
              </a:rPr>
              <a:t>https://terrasentinel-598899050820.asia-southeast1.run.app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854"/>
                </a:solidFill>
                <a:latin typeface="Calibri"/>
              </a:rPr>
              <a:t>Sign-in: username + password are shown on the login page (judge demo hint).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854"/>
                </a:solidFill>
                <a:latin typeface="Calibri"/>
              </a:rPr>
              <a:t>Judge walkthrough: docs/JUDGE.md in the repository.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80000" y="1520000"/>
            <a:ext cx="8584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66E"/>
                </a:solidFill>
                <a:latin typeface="Calibri"/>
              </a:rPr>
              <a:t>Honesty rules (non-negotiable)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1D1B"/>
                </a:solidFill>
                <a:latin typeface="Calibri"/>
              </a:rPr>
              <a:t>Outlooks are time-to-threshold bands under a continuing-regime assumption — not collapse predictions.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1D1B"/>
                </a:solidFill>
                <a:latin typeface="Calibri"/>
              </a:rPr>
              <a:t>Gemini narrates tool numbers only; it does not invent scores, ETAs or tiers.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1D1B"/>
                </a:solidFill>
                <a:latin typeface="Calibri"/>
              </a:rPr>
              <a:t>Demo / synthetic data is labelled in the product.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1D1B"/>
                </a:solidFill>
                <a:latin typeface="Calibri"/>
              </a:rPr>
              <a:t>Secrets stay in .env / Secret Manager — never in git.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TextBox 172"/>
          <p:cNvSpPr txBox="1"/>
          <p:nvPr/>
        </p:nvSpPr>
        <p:spPr>
          <a:xfrm>
            <a:off x="280000" y="1520000"/>
            <a:ext cx="8584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66E"/>
                </a:solidFill>
                <a:latin typeface="Calibri"/>
              </a:rPr>
              <a:t>Thank you — Team Agent Ram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1D1B"/>
                </a:solidFill>
                <a:latin typeface="Calibri"/>
              </a:rPr>
              <a:t>TerraSentinel AI · Google Cloud AI Builder Cup 2026 · Sustainability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1D1B"/>
                </a:solidFill>
                <a:latin typeface="Calibri"/>
              </a:rPr>
              <a:t>Live demo + GitHub + this deck · Ask us to walk Command Center → Work Order → Data Hub.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1D1B"/>
                </a:solidFill>
                <a:latin typeface="Calibri"/>
              </a:rPr>
              <a:t>Ramasamy P · ramasamy.p2105@gmail.com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