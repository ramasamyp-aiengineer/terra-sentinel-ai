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1" cy="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TextBox 56"/>
          <p:cNvSpPr txBox="1"/>
          <p:nvPr/>
        </p:nvSpPr>
        <p:spPr>
          <a:xfrm>
            <a:off x="340000" y="3120000"/>
            <a:ext cx="8464000" cy="1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TEAM DETAILS  ·  AI BUILDER CUP 2026  ·  JAPAC  ·  SUSTAINABILITY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1D1B"/>
                </a:solidFill>
                <a:latin typeface="Calibri"/>
              </a:rPr>
              <a:t>Team: Agent Ram   ·   Leader: Ramasamy P   ·   Product: TerraSentinel AI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7585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766E"/>
                </a:solidFill>
                <a:latin typeface="Calibri"/>
              </a:rPr>
              <a:t>Satellites leave 1,355 moving points. The engine ranks the few that matter.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766E"/>
                </a:solidFill>
                <a:latin typeface="Calibri"/>
              </a:rPr>
              <a:t>Gemini writes the ticket — every number checked. Live on Cloud Run + BigQuery.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7585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1D1B"/>
                </a:solidFill>
                <a:latin typeface="Calibri"/>
              </a:rPr>
              <a:t>Problem: InSAR portals give points, not who goes today. Chatbots invent mm.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1D1B"/>
                </a:solidFill>
                <a:latin typeface="Calibri"/>
              </a:rPr>
              <a:t>Solution: 250 m sites · RPI · honest ETA bands · Gemini number guard.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  <p:sp>
        <p:nvSpPr>
          <p:cNvPr id="65" name="Rounded Rectangle 64"/>
          <p:cNvSpPr/>
          <p:nvPr/>
        </p:nvSpPr>
        <p:spPr>
          <a:xfrm>
            <a:off x="260000" y="380000"/>
            <a:ext cx="8624000" cy="45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0000" y="380000"/>
            <a:ext cx="36000" cy="45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0000" y="450000"/>
            <a:ext cx="382704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TERRASENTINEL AI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F1D1B"/>
                </a:solidFill>
                <a:latin typeface="Calibri"/>
              </a:rPr>
              <a:t>Satellites see the ground move.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766E"/>
                </a:solidFill>
                <a:latin typeface="Calibri"/>
              </a:rPr>
              <a:t>Gemini tells engineers where to go first.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30000" y="1160000"/>
            <a:ext cx="3827040" cy="1186666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30000" y="1160000"/>
            <a:ext cx="36000" cy="118666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0000" y="1421066"/>
            <a:ext cx="3727040" cy="6645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F766E"/>
                </a:solidFill>
                <a:latin typeface="Calibri"/>
              </a:rPr>
              <a:t>62,330 → 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1D1B"/>
                </a:solidFill>
                <a:latin typeface="Calibri"/>
              </a:rPr>
              <a:t>Observations become act-today sites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30000" y="2396666"/>
            <a:ext cx="3827040" cy="1186666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30000" y="2396666"/>
            <a:ext cx="36000" cy="118666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0000" y="2657732"/>
            <a:ext cx="3727040" cy="6645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C62828"/>
                </a:solidFill>
                <a:latin typeface="Calibri"/>
              </a:rPr>
              <a:t>RPI 86 · CRITICAL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1D1B"/>
                </a:solidFill>
                <a:latin typeface="Calibri"/>
              </a:rPr>
              <a:t>NH-58 · 35–64 day outlook if trend continues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30000" y="3633332"/>
            <a:ext cx="3827040" cy="1186666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30000" y="3633332"/>
            <a:ext cx="36000" cy="118666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0000" y="3894398"/>
            <a:ext cx="3727040" cy="6645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F766E"/>
                </a:solidFill>
                <a:latin typeface="Calibri"/>
              </a:rPr>
              <a:t>Gemini · verified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F1D1B"/>
                </a:solidFill>
                <a:latin typeface="Calibri"/>
              </a:rPr>
              <a:t>6 tools · 7 numbers checked · 24h dispatch</a:t>
            </a:r>
          </a:p>
        </p:txBody>
      </p:sp>
      <p:pic>
        <p:nvPicPr>
          <p:cNvPr id="77" name="Picture 76" descr="c-hero-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040" y="766089"/>
            <a:ext cx="4536960" cy="37478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F766E"/>
                </a:solidFill>
                <a:latin typeface="Calibri"/>
              </a:rPr>
              <a:t>PROBLEM &amp; DECISION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Aft>
                <a:spcPts val="0"/>
              </a:spcAft>
            </a:pPr>
            <a:r>
              <a:rPr sz="1200" b="1">
                <a:solidFill>
                  <a:srgbClr val="0F1D1B"/>
                </a:solidFill>
                <a:latin typeface="Calibri"/>
              </a:rPr>
              <a:t>Ground creeps for months. Nobody ranks which creep matters — crews go to the wrong place.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60000" y="1300000"/>
            <a:ext cx="3622080" cy="62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60000" y="1300000"/>
            <a:ext cx="36000" cy="62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0000" y="1335000"/>
            <a:ext cx="3522080" cy="5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62828"/>
                </a:solidFill>
                <a:latin typeface="Calibri"/>
              </a:rPr>
              <a:t>NH-58 mountain highway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Sole valley access. One slip cuts towns, pilgrims, supply.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60000" y="1961600"/>
            <a:ext cx="3622080" cy="621600"/>
          </a:xfrm>
          <a:prstGeom prst="roundRect">
            <a:avLst>
              <a:gd name="adj" fmla="val 8000"/>
            </a:avLst>
          </a:prstGeom>
          <a:solidFill>
            <a:srgbClr val="FDF2E3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60000" y="1961600"/>
            <a:ext cx="36000" cy="6216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30000" y="1996600"/>
            <a:ext cx="3522080" cy="5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45309"/>
                </a:solidFill>
                <a:latin typeface="Calibri"/>
              </a:rPr>
              <a:t>Chennai metro tunnels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Settlement under roads &amp; buildings. Tight tolerances.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60000" y="2623200"/>
            <a:ext cx="3622080" cy="6216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60000" y="2623200"/>
            <a:ext cx="36000" cy="621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0000" y="2658200"/>
            <a:ext cx="3522080" cy="5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Dams &amp; tailings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Crest/toe motion · severe downstream consequence.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60000" y="3284800"/>
            <a:ext cx="3622080" cy="6216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60000" y="3284800"/>
            <a:ext cx="36000" cy="621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0000" y="3319800"/>
            <a:ext cx="3522080" cy="5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The one decision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After this pass: which 250 m, why, and how soon?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952080" y="1300000"/>
            <a:ext cx="4931920" cy="143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952080" y="1300000"/>
            <a:ext cx="36000" cy="14335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022080" y="1335000"/>
            <a:ext cx="483192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D1B"/>
                </a:solidFill>
                <a:latin typeface="Calibri"/>
              </a:rPr>
              <a:t>Today fails the decision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12080" y="1580000"/>
            <a:ext cx="4831920" cy="113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Raw InSAR portal — thousands of points, no asset link, no who-goes-today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Rainfall alarm — treats the trigger as the hazard; fires on stable ground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Generic AI chatbot — invents mm and failure dates; nothing to audit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Scheduled walk-over — calendar ignores which segment is accelerating now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952080" y="2803520"/>
            <a:ext cx="2430960" cy="110288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952080" y="2803520"/>
            <a:ext cx="36000" cy="11028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002080" y="2833520"/>
            <a:ext cx="235096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5803D"/>
                </a:solidFill>
                <a:latin typeface="Calibri"/>
              </a:rPr>
              <a:t>We do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92080" y="3003520"/>
            <a:ext cx="2360960" cy="8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Progressive creep on linear assets</a:t>
            </a:r>
          </a:p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Rank · explain · track between passes</a:t>
            </a:r>
          </a:p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Threshold window + assumptions stated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453040" y="2803520"/>
            <a:ext cx="2430960" cy="11028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453040" y="2803520"/>
            <a:ext cx="36000" cy="1102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503040" y="2833520"/>
            <a:ext cx="235096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62828"/>
                </a:solidFill>
                <a:latin typeface="Calibri"/>
              </a:rPr>
              <a:t>We refuse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93040" y="3003520"/>
            <a:ext cx="2360960" cy="8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Failure / collapse dates</a:t>
            </a:r>
          </a:p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Sudden events between 6–12 d passes</a:t>
            </a:r>
          </a:p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Certified safety decisions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60000" y="3976400"/>
            <a:ext cx="8624000" cy="9436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60000" y="3976400"/>
            <a:ext cx="36000" cy="943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20000" y="4001400"/>
            <a:ext cx="2200000" cy="903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F766E"/>
                </a:solidFill>
                <a:latin typeface="Calibri"/>
              </a:rPr>
              <a:t>One pass · demo data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560000" y="4016400"/>
            <a:ext cx="1224800" cy="883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62,330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observations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04800" y="4016400"/>
            <a:ext cx="1224800" cy="883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1,355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radar points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049600" y="4016400"/>
            <a:ext cx="1224800" cy="883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87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250 m sites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94400" y="4016400"/>
            <a:ext cx="1224800" cy="883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7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CRIT/ELEV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539200" y="4016400"/>
            <a:ext cx="1224800" cy="883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4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Act 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F766E"/>
                </a:solidFill>
                <a:latin typeface="Calibri"/>
              </a:rPr>
              <a:t>WHY WE WIN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spcAft>
                <a:spcPts val="0"/>
              </a:spcAft>
            </a:pPr>
            <a:r>
              <a:rPr sz="1200" b="1">
                <a:solidFill>
                  <a:srgbClr val="0F1D1B"/>
                </a:solidFill>
                <a:latin typeface="Calibri"/>
              </a:rPr>
              <a:t>Not another InSAR viewer — a consequence-ranked decision layer with guarded GenAI.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60000" y="1300000"/>
            <a:ext cx="2828000" cy="3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60000" y="1300000"/>
            <a:ext cx="36000" cy="36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0000" y="1350000"/>
            <a:ext cx="2728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Differentiation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0000" y="1620000"/>
            <a:ext cx="2738000" cy="3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250 m chainage sites on corridor geometry — not a heat-map of every scatterer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RPI = hazard × consequence × confidence (deterministic Python / BigQuery)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Act list = today’s state; Alerts = what changed between passes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Rain amplifies only (+50% cap); USGS quakes never move a score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Gemini narrates tool results; the engine owns every number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WEAK radar guard — bad data can never become CRITICAL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158000" y="1300000"/>
            <a:ext cx="2828000" cy="3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58000" y="1300000"/>
            <a:ext cx="36000" cy="3620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18000" y="1350000"/>
            <a:ext cx="2728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How it solves it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08000" y="1620000"/>
            <a:ext cx="2738000" cy="3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Validate → locate on assets → measure speed / accel / progress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Classify with data-quality gate; rank Act-today shortlist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Outlook = [ETA_const, ETA_accel] band ≤ 365 d — never a date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Work order: summary · hypothesis · urgency · field checklist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Same maths locally or in BigQuery (TS_DATA_BACKEND flag)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History is re-run from data — every past score is reproducible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056000" y="1300000"/>
            <a:ext cx="2828000" cy="3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056000" y="1300000"/>
            <a:ext cx="36000" cy="362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16000" y="1350000"/>
            <a:ext cx="2728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62828"/>
                </a:solidFill>
                <a:latin typeface="Calibri"/>
              </a:rPr>
              <a:t>USP · live proof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06000" y="1620000"/>
            <a:ext cx="2738000" cy="3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Honest continuing-regime bands with assumptions spelled out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Number guard rejects invented mm and “will collapse” language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Live Cloud Run + BigQuery + Secret Manager + GCS state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Demo funnel: 62,330 obs → 87 sites → 7 action → 4 Act today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Gemini live: 6 tool calls · 7 numbers verified · 24h dispatch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Judge can sign in now — credentials on the login 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F766E"/>
                </a:solidFill>
                <a:latin typeface="Calibri"/>
              </a:rPr>
              <a:t>PRODUCT SURFACES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0F1D1B"/>
                </a:solidFill>
                <a:latin typeface="Calibri"/>
              </a:rPr>
              <a:t>Every screen ships a decision an engineer can act on today.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60000" y="1300000"/>
            <a:ext cx="2114750" cy="178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60000" y="1300000"/>
            <a:ext cx="36000" cy="1782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10000" y="1345000"/>
            <a:ext cx="2034750" cy="171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Command Center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" b="0">
                <a:solidFill>
                  <a:srgbClr val="47585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Map + KPIs + Act today — ranked by consequence, not raw mm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429750" y="1300000"/>
            <a:ext cx="2114750" cy="178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429750" y="1300000"/>
            <a:ext cx="36000" cy="1782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79750" y="1345000"/>
            <a:ext cx="2034750" cy="171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Site drawer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" b="0">
                <a:solidFill>
                  <a:srgbClr val="47585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RPI, speed vs baseline, rain trigger, outlook band, pass trend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99500" y="1300000"/>
            <a:ext cx="2114750" cy="17825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599500" y="1300000"/>
            <a:ext cx="36000" cy="1782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49500" y="1345000"/>
            <a:ext cx="2034750" cy="171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Alerts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" b="0">
                <a:solidFill>
                  <a:srgbClr val="47585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Pass-to-pass diffs — what changed, not a duplicate Act list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769250" y="1300000"/>
            <a:ext cx="2114750" cy="17825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769250" y="1300000"/>
            <a:ext cx="36000" cy="1782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19250" y="1345000"/>
            <a:ext cx="2034750" cy="171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Trends · Portfolio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" b="0">
                <a:solidFill>
                  <a:srgbClr val="47585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16 passes recomputed from data; action sites 3→7 tracked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60000" y="3137500"/>
            <a:ext cx="2114750" cy="178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60000" y="3137500"/>
            <a:ext cx="36000" cy="1782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10000" y="3182500"/>
            <a:ext cx="2034750" cy="171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Work Orders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" b="0">
                <a:solidFill>
                  <a:srgbClr val="47585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Template-first ticket; Gemini polish; number guard on every figure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429750" y="3137500"/>
            <a:ext cx="2114750" cy="178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429750" y="3137500"/>
            <a:ext cx="36000" cy="1782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479750" y="3182500"/>
            <a:ext cx="2034750" cy="171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Data Hub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" b="0">
                <a:solidFill>
                  <a:srgbClr val="47585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Validate-then-import · Open-Meteo rain · provenance · BQ sync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599500" y="3137500"/>
            <a:ext cx="2114750" cy="17825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599500" y="3137500"/>
            <a:ext cx="36000" cy="1782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649500" y="3182500"/>
            <a:ext cx="2034750" cy="171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Access &amp; audit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" b="0">
                <a:solidFill>
                  <a:srgbClr val="47585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admin/analyst/viewer · CSRF · sessions · full audit log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769250" y="3137500"/>
            <a:ext cx="2114750" cy="17825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769250" y="3137500"/>
            <a:ext cx="36000" cy="1782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819250" y="3182500"/>
            <a:ext cx="2034750" cy="171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Methodology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" b="0">
                <a:solidFill>
                  <a:srgbClr val="47585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Published formulae — every score auditable by a geotech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F766E"/>
                </a:solidFill>
                <a:latin typeface="Calibri"/>
              </a:rPr>
              <a:t>STORY &amp; PROCESS FLOW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0F1D1B"/>
                </a:solidFill>
                <a:latin typeface="Calibri"/>
              </a:rPr>
              <a:t>One satellite pass — from space to a crew at the right 250 metres.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60000" y="1300000"/>
            <a:ext cx="1668800" cy="17376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60000" y="1300000"/>
            <a:ext cx="36000" cy="1737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90000" y="1350000"/>
            <a:ext cx="1608800" cy="1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1 · Pass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D1B"/>
                </a:solidFill>
                <a:latin typeface="Calibri"/>
              </a:rPr>
              <a:t>Every 6–12 days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475854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Sentinel-1 measures mm motion through cloud &amp; night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998800" y="1300000"/>
            <a:ext cx="1668800" cy="173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998800" y="1300000"/>
            <a:ext cx="36000" cy="1737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28800" y="1350000"/>
            <a:ext cx="1608800" cy="1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2 · Map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D1B"/>
                </a:solidFill>
                <a:latin typeface="Calibri"/>
              </a:rPr>
              <a:t>Onto the corridor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475854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1,355 points matched to highway / metro / dam → 87×250 m sites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737600" y="1300000"/>
            <a:ext cx="1668800" cy="17376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737600" y="1300000"/>
            <a:ext cx="36000" cy="1737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767600" y="1350000"/>
            <a:ext cx="1608800" cy="1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3 · Rank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D1B"/>
                </a:solidFill>
                <a:latin typeface="Calibri"/>
              </a:rPr>
              <a:t>What matters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475854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Fast + accelerating + critical + good data rises; rain alone never alarms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476400" y="1300000"/>
            <a:ext cx="1668800" cy="173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476400" y="1300000"/>
            <a:ext cx="36000" cy="1737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506400" y="1350000"/>
            <a:ext cx="1608800" cy="1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4 · Gemini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D1B"/>
                </a:solidFill>
                <a:latin typeface="Calibri"/>
              </a:rPr>
              <a:t>Write the ticket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475854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7 tools → reason → JSON → number guard → field checklist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215200" y="1300000"/>
            <a:ext cx="1668800" cy="17376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215200" y="1300000"/>
            <a:ext cx="36000" cy="1737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245200" y="1350000"/>
            <a:ext cx="1608800" cy="1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5 · Next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D1B"/>
                </a:solidFill>
                <a:latin typeface="Calibri"/>
              </a:rPr>
              <a:t>Keep watching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475854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Crew acts; next pass shows calm-down or worse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60000" y="3107600"/>
            <a:ext cx="5001920" cy="18124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60000" y="3107600"/>
            <a:ext cx="36000" cy="1812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30000" y="3147600"/>
            <a:ext cx="488192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Demo funnel (labelled synthetic)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30000" y="3387600"/>
            <a:ext cx="952384" cy="1492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62,330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75854"/>
                </a:solidFill>
                <a:latin typeface="Calibri"/>
              </a:rPr>
              <a:t>obs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302384" y="3387600"/>
            <a:ext cx="952384" cy="1492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1,355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75854"/>
                </a:solidFill>
                <a:latin typeface="Calibri"/>
              </a:rPr>
              <a:t>pts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274768" y="3387600"/>
            <a:ext cx="952384" cy="1492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87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75854"/>
                </a:solidFill>
                <a:latin typeface="Calibri"/>
              </a:rPr>
              <a:t>sites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247152" y="3387600"/>
            <a:ext cx="952384" cy="1492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7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75854"/>
                </a:solidFill>
                <a:latin typeface="Calibri"/>
              </a:rPr>
              <a:t>action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219536" y="3387600"/>
            <a:ext cx="952384" cy="1492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4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75854"/>
                </a:solidFill>
                <a:latin typeface="Calibri"/>
              </a:rPr>
              <a:t>Act today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331920" y="3107600"/>
            <a:ext cx="3552080" cy="181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331920" y="3107600"/>
            <a:ext cx="36000" cy="1812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391920" y="3147600"/>
            <a:ext cx="345208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Who it serves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381920" y="3367600"/>
            <a:ext cx="3462080" cy="151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Public: find problems while small — keep roads open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Engineers: short list + ticket (what / where / why)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Leaders: spend crews where risk is rising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F766E"/>
                </a:solidFill>
                <a:latin typeface="Calibri"/>
              </a:rPr>
              <a:t>PRODUCT UI (LIVE)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0F1D1B"/>
                </a:solidFill>
                <a:latin typeface="Calibri"/>
              </a:rPr>
              <a:t>What judges open today — Command Center → site → Gemini ticket → Data Hub.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60000" y="1300000"/>
            <a:ext cx="4262000" cy="16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c-comm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8584" y="1336000"/>
            <a:ext cx="2204832" cy="154400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280000" y="2936000"/>
            <a:ext cx="4222000" cy="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Command Center · Act list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622000" y="1300000"/>
            <a:ext cx="4262000" cy="16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8" name="Picture 107" descr="c-s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0542" y="1336000"/>
            <a:ext cx="1584916" cy="15440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4642000" y="2936000"/>
            <a:ext cx="4222000" cy="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Site · RPI &amp; outlook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60000" y="3160000"/>
            <a:ext cx="4262000" cy="16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1" name="Picture 110" descr="c-workorder-a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589" y="3196000"/>
            <a:ext cx="2654822" cy="154400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280000" y="4796000"/>
            <a:ext cx="4222000" cy="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Gemini work order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622000" y="3160000"/>
            <a:ext cx="4262000" cy="16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4" name="Picture 113" descr="c-data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9387" y="3196000"/>
            <a:ext cx="2487225" cy="154400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4642000" y="4796000"/>
            <a:ext cx="4222000" cy="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Data Hub · validate then import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F766E"/>
                </a:solidFill>
                <a:latin typeface="Calibri"/>
              </a:rPr>
              <a:t>ARCHITECTURE STORY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Aft>
                <a:spcPts val="0"/>
              </a:spcAft>
            </a:pPr>
            <a:r>
              <a:rPr sz="1200" b="1">
                <a:solidFill>
                  <a:srgbClr val="0F1D1B"/>
                </a:solidFill>
                <a:latin typeface="Calibri"/>
              </a:rPr>
              <a:t>Ingest → Store → Compute → Snapshot → Serve. One container. GenAI never owns the maths.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60000" y="1300000"/>
            <a:ext cx="1668800" cy="13032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60000" y="1300000"/>
            <a:ext cx="36000" cy="1303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90000" y="1350000"/>
            <a:ext cx="1608800" cy="1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Ingest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Data Hub validates
files &amp; HTTPS links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998800" y="1300000"/>
            <a:ext cx="1668800" cy="130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998800" y="1300000"/>
            <a:ext cx="36000" cy="1303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028800" y="1350000"/>
            <a:ext cx="1608800" cy="1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Store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BigQuery or local
GIS join · history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737600" y="1300000"/>
            <a:ext cx="1668800" cy="13032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737600" y="1300000"/>
            <a:ext cx="36000" cy="1303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767600" y="1350000"/>
            <a:ext cx="1608800" cy="1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Compute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Detection engine
RPI · tier · band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476400" y="1300000"/>
            <a:ext cx="1668800" cy="130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476400" y="1300000"/>
            <a:ext cx="36000" cy="1303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506400" y="1350000"/>
            <a:ext cx="1608800" cy="1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Snapshot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Pass replay
alerts · trends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215200" y="1300000"/>
            <a:ext cx="1668800" cy="1303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215200" y="1300000"/>
            <a:ext cx="36000" cy="1303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245200" y="1350000"/>
            <a:ext cx="1608800" cy="122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Serve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UI + Gemini ticket
audit trail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60000" y="2673200"/>
            <a:ext cx="8624000" cy="425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60000" y="2673200"/>
            <a:ext cx="36000" cy="425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40000" y="2703200"/>
            <a:ext cx="1500000" cy="385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EDGE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910000" y="2703200"/>
            <a:ext cx="6824000" cy="385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Cloud Run · HTTPS · CSP/HSTS · rate limits · sessions · GCS state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60000" y="3128560"/>
            <a:ext cx="8624000" cy="425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60000" y="3128560"/>
            <a:ext cx="36000" cy="425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0000" y="3158560"/>
            <a:ext cx="1500000" cy="385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UI + API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910000" y="3158560"/>
            <a:ext cx="6824000" cy="385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React/MapLibre · FastAPI · RBAC · CSRF · SSRF-safe fetch · audit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60000" y="3583920"/>
            <a:ext cx="8624000" cy="425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60000" y="3583920"/>
            <a:ext cx="36000" cy="425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40000" y="3613920"/>
            <a:ext cx="1500000" cy="385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ENGINE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910000" y="3613920"/>
            <a:ext cx="6824000" cy="385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Deterministic RPI / tiers / ETA bands / alerts — GenAI never computes these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60000" y="4039280"/>
            <a:ext cx="8624000" cy="425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60000" y="4039280"/>
            <a:ext cx="36000" cy="425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40000" y="4069280"/>
            <a:ext cx="1500000" cy="385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GENAI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910000" y="4069280"/>
            <a:ext cx="6824000" cy="385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Gemini tools → number guard → template fallback (Vertex or AI Studio)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60000" y="4494640"/>
            <a:ext cx="8624000" cy="425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60000" y="4494640"/>
            <a:ext cx="36000" cy="425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40000" y="4524640"/>
            <a:ext cx="1500000" cy="385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DATA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910000" y="4524640"/>
            <a:ext cx="6824000" cy="385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BigQuery partitions/GEOGRAPHY XOR local · USGS context only · provenance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F766E"/>
                </a:solidFill>
                <a:latin typeface="Calibri"/>
              </a:rPr>
              <a:t>GENAI ON GOOGLE CLOUD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0F1D1B"/>
                </a:solidFill>
                <a:latin typeface="Calibri"/>
              </a:rPr>
              <a:t>Without GenAI: a number. With Gemini + guard: a ticket an engineer can trust.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60000" y="1300000"/>
            <a:ext cx="8624000" cy="5000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60000" y="1300000"/>
            <a:ext cx="36000" cy="5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30000" y="1350000"/>
            <a:ext cx="8484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D1B"/>
                </a:solidFill>
                <a:latin typeface="Calibri"/>
              </a:rPr>
              <a:t>LIVE PROOF: Gemini drafted a Metro Line 4 ticket with 6 tool calls and 7 numbers verified. Recommendation: “Dispatch an inspection crew within 24 hours…” — every millimetre from tools, not free text.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60000" y="1870000"/>
            <a:ext cx="1668800" cy="1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60000" y="1870000"/>
            <a:ext cx="36000" cy="1159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85000" y="1905000"/>
            <a:ext cx="1618800" cy="110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Ingest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Cloud Run
Data Hub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998800" y="1870000"/>
            <a:ext cx="1668800" cy="1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998800" y="1870000"/>
            <a:ext cx="36000" cy="1159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023800" y="1905000"/>
            <a:ext cx="1618800" cy="110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Store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BigQuery
GIS + history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737600" y="1870000"/>
            <a:ext cx="1668800" cy="1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737600" y="1870000"/>
            <a:ext cx="36000" cy="1159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762600" y="1905000"/>
            <a:ext cx="1618800" cy="110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Compute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Engine
RPI · tier · band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476400" y="1870000"/>
            <a:ext cx="1668800" cy="11590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476400" y="1870000"/>
            <a:ext cx="36000" cy="1159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501400" y="1905000"/>
            <a:ext cx="1618800" cy="110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Explain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Gemini
+ number guard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215200" y="1870000"/>
            <a:ext cx="1668800" cy="1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215200" y="1870000"/>
            <a:ext cx="36000" cy="1159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40200" y="1905000"/>
            <a:ext cx="1618800" cy="110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Act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75854"/>
                </a:solidFill>
                <a:latin typeface="Calibri"/>
              </a:rPr>
              <a:t>Map · ticket
· audit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60000" y="3099000"/>
            <a:ext cx="2828000" cy="180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60000" y="3099000"/>
            <a:ext cx="36000" cy="1801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10000" y="3134000"/>
            <a:ext cx="27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Gemini loop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00000" y="3319000"/>
            <a:ext cx="2758000" cy="15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7 tools: metrics, history, outlook, rain, seismic, exposure, quality</a:t>
            </a:r>
          </a:p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Round 0 MUST call tools → investigate → write JSON</a:t>
            </a:r>
          </a:p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Temp 0.1 · model fallback on 429/5xx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158000" y="3099000"/>
            <a:ext cx="2828000" cy="180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158000" y="3099000"/>
            <a:ext cx="36000" cy="1801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208000" y="3134000"/>
            <a:ext cx="27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Number guard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98000" y="3319000"/>
            <a:ext cx="2758000" cy="15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Rejects any mm/days/% not in a tool result</a:t>
            </a:r>
          </a:p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Rejects “will collapse”, “failure date”, “no risk”</a:t>
            </a:r>
          </a:p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On failure: labelled template still ships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056000" y="3099000"/>
            <a:ext cx="2828000" cy="180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056000" y="3099000"/>
            <a:ext cx="36000" cy="1801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106000" y="3134000"/>
            <a:ext cx="2748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GCP stack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096000" y="3319000"/>
            <a:ext cx="2758000" cy="15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Cloud Run — SPA + API + engine + agent</a:t>
            </a:r>
          </a:p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BigQuery — partitions, ST_DWITHIN, bytes cap</a:t>
            </a:r>
          </a:p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Vertex/AI Studio · Secrets · GCS · ADC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F766E"/>
                </a:solidFill>
                <a:latin typeface="Calibri"/>
              </a:rPr>
              <a:t>ESTIMATED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0F1D1B"/>
                </a:solidFill>
                <a:latin typeface="Calibri"/>
              </a:rPr>
              <a:t>GenAI only on tickets; ranking stays deterministic CPU.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60000" y="1300000"/>
            <a:ext cx="8624000" cy="6680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60000" y="1300000"/>
            <a:ext cx="36000" cy="66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40000" y="1350000"/>
            <a:ext cx="2000000" cy="5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Cloud Run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460000" y="1350000"/>
            <a:ext cx="4200000" cy="5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D1B"/>
                </a:solidFill>
                <a:latin typeface="Calibri"/>
              </a:rPr>
              <a:t>1–2 vCPU / 2 GiB · min=1 while judging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760000" y="1350000"/>
            <a:ext cx="1924000" cy="5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75854"/>
                </a:solidFill>
                <a:latin typeface="Calibri"/>
              </a:rPr>
              <a:t>low tens USD/mo warm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60000" y="2038000"/>
            <a:ext cx="8624000" cy="6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60000" y="2038000"/>
            <a:ext cx="36000" cy="66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40000" y="2088000"/>
            <a:ext cx="2000000" cy="5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BigQuery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460000" y="2088000"/>
            <a:ext cx="4200000" cy="5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D1B"/>
                </a:solidFill>
                <a:latin typeface="Calibri"/>
              </a:rPr>
              <a:t>~62k rows · TTL cache · max bytes billed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60000" y="2088000"/>
            <a:ext cx="1924000" cy="5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75854"/>
                </a:solidFill>
                <a:latin typeface="Calibri"/>
              </a:rPr>
              <a:t>pennies–low USD demos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60000" y="2776000"/>
            <a:ext cx="8624000" cy="6680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60000" y="2776000"/>
            <a:ext cx="36000" cy="66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40000" y="2826000"/>
            <a:ext cx="2000000" cy="5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Gemini Flash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460000" y="2826000"/>
            <a:ext cx="4200000" cy="5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D1B"/>
                </a:solidFill>
                <a:latin typeface="Calibri"/>
              </a:rPr>
              <a:t>Work-order path only · template fallback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60000" y="2826000"/>
            <a:ext cx="1924000" cy="5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75854"/>
                </a:solidFill>
                <a:latin typeface="Calibri"/>
              </a:rPr>
              <a:t>per-ticket, optional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60000" y="3514000"/>
            <a:ext cx="8624000" cy="6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60000" y="3514000"/>
            <a:ext cx="36000" cy="66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40000" y="3564000"/>
            <a:ext cx="2000000" cy="5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Secrets + GCS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460000" y="3564000"/>
            <a:ext cx="4200000" cy="5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D1B"/>
                </a:solidFill>
                <a:latin typeface="Calibri"/>
              </a:rPr>
              <a:t>Admin/Gemini secrets · state volume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60000" y="3564000"/>
            <a:ext cx="1924000" cy="5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75854"/>
                </a:solidFill>
                <a:latin typeface="Calibri"/>
              </a:rPr>
              <a:t>pennies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60000" y="4252000"/>
            <a:ext cx="8624000" cy="6680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260000" y="4252000"/>
            <a:ext cx="36000" cy="66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40000" y="4302000"/>
            <a:ext cx="2000000" cy="5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Scale path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460000" y="4302000"/>
            <a:ext cx="4200000" cy="5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D1B"/>
                </a:solidFill>
                <a:latin typeface="Calibri"/>
              </a:rPr>
              <a:t>Materialize assignment · raise instances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60000" y="4302000"/>
            <a:ext cx="1924000" cy="5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475854"/>
                </a:solidFill>
                <a:latin typeface="Calibri"/>
              </a:rPr>
              <a:t>linear with corridors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F766E"/>
                </a:solidFill>
                <a:latin typeface="Calibri"/>
              </a:rPr>
              <a:t>PROTOTYPE SNAPSHOTS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Aft>
                <a:spcPts val="0"/>
              </a:spcAft>
            </a:pPr>
            <a:r>
              <a:rPr sz="1200" b="1">
                <a:solidFill>
                  <a:srgbClr val="0F1D1B"/>
                </a:solidFill>
                <a:latin typeface="Calibri"/>
              </a:rPr>
              <a:t>Winning proof on screen — Chamoli Act list, NH-58 CRITICAL, verified Gemini ticket.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260000" y="1300000"/>
            <a:ext cx="4262000" cy="16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7" name="Picture 136" descr="c-hero-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6448" y="1336000"/>
            <a:ext cx="1869103" cy="1544000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280000" y="2936000"/>
            <a:ext cx="4222000" cy="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Chamoli · 69 sites · 4 act today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622000" y="1300000"/>
            <a:ext cx="4262000" cy="16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0" name="Picture 139" descr="c-map-chamol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4420" y="1336000"/>
            <a:ext cx="1677159" cy="1544000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4642000" y="2936000"/>
            <a:ext cx="4222000" cy="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Ranked map — not every scatterer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60000" y="3160000"/>
            <a:ext cx="4262000" cy="16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c-s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8542" y="3196000"/>
            <a:ext cx="1584916" cy="154400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280000" y="4796000"/>
            <a:ext cx="4222000" cy="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NH-58 · RPI 86 · 35-64 day band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622000" y="3160000"/>
            <a:ext cx="4262000" cy="16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6" name="Picture 145" descr="c-workord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0480" y="3196000"/>
            <a:ext cx="2005040" cy="15440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4642000" y="4796000"/>
            <a:ext cx="4222000" cy="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Gemini · numbers 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F766E"/>
                </a:solidFill>
                <a:latin typeface="Calibri"/>
              </a:rPr>
              <a:t>WORKED PROOF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0F1D1B"/>
                </a:solidFill>
                <a:latin typeface="Calibri"/>
              </a:rPr>
              <a:t>NH-58 KM 3.25–3.50 — same numbers in UI, tools, and Gemini work order.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260000" y="1300000"/>
            <a:ext cx="4277000" cy="3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60000" y="1300000"/>
            <a:ext cx="36000" cy="362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20000" y="1340000"/>
            <a:ext cx="4177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62828"/>
                </a:solidFill>
                <a:latin typeface="Calibri"/>
              </a:rPr>
              <a:t>CRITICAL · RPI 86 · band 35–64 d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10000" y="1620000"/>
            <a:ext cx="4187000" cy="3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Inputs: 6.2 vs 2.8 mm/mo · 2.2× · 29.7/40 mm · rain 213 mm · crit 0.95 · conf 0.97</a:t>
            </a:r>
          </a:p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kin = 100×(.4·0.62 + .3·0.40 + .3·0.74) = 59.4</a:t>
            </a:r>
          </a:p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hazard = 59.4×(1+0.5×1.0) = 89.1 (rain capped)</a:t>
            </a:r>
          </a:p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RPI = 89.1×0.975×0.985 ≈ 85.7 → CRITICAL (threshold approach)</a:t>
            </a:r>
          </a:p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Outlook: 51 d const · 44 d accel → widened 35–64 d if trend continues</a:t>
            </a:r>
          </a:p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History: this site 61→86 · portfolio action sites 3→7 over 16 passes</a:t>
            </a:r>
          </a:p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What-if: minor road→57 ELEV · weak radar→≤15 WEAK · rain on stable→≈1</a:t>
            </a:r>
          </a:p>
          <a:p>
            <a:pPr>
              <a:spcAft>
                <a:spcPts val="300"/>
              </a:spcAft>
            </a:pPr>
            <a:r>
              <a:rPr sz="800">
                <a:solidFill>
                  <a:srgbClr val="0F1D1B"/>
                </a:solidFill>
                <a:latin typeface="Calibri"/>
              </a:rPr>
              <a:t>•  Integrity: GenAI never computes RPI / tier / ETA — tools only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607000" y="1300000"/>
            <a:ext cx="4277000" cy="184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Picture 148" descr="c-site-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5819" y="1336000"/>
            <a:ext cx="2039361" cy="1775000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4627000" y="3167000"/>
            <a:ext cx="4237000" cy="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Site trend · displacement + rain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607000" y="3371000"/>
            <a:ext cx="4277000" cy="15490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607000" y="3371000"/>
            <a:ext cx="36000" cy="1549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657000" y="3411000"/>
            <a:ext cx="4197000" cy="148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Live Cloud Run + BigQuery (warm)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summary ~0.4s · sites ~0.3s · alerts ~2s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D1B"/>
                </a:solidFill>
                <a:latin typeface="Calibri"/>
              </a:rPr>
              <a:t>Hot-path prefetch before history warm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F766E"/>
                </a:solidFill>
                <a:latin typeface="Calibri"/>
              </a:rPr>
              <a:t>Gemini: 6 tool calls · 7 numbers verified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F766E"/>
                </a:solidFill>
                <a:latin typeface="Calibri"/>
              </a:rPr>
              <a:t>ASK · BUYER · ROADMAP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0F1D1B"/>
                </a:solidFill>
                <a:latin typeface="Calibri"/>
              </a:rPr>
              <a:t>Sustainability impact today. Scale tomorrow. Honesty rules never move.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60000" y="1300000"/>
            <a:ext cx="8624000" cy="5200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40000" y="1360000"/>
            <a:ext cx="8464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THE ASK: Review the live demo, the 3-minute video, and the repository.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Buyer: asset-integrity / geotech teams. They buy engineer attention — 1,355 points become 7 sites.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60000" y="1890000"/>
            <a:ext cx="4277000" cy="303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260000" y="1890000"/>
            <a:ext cx="36000" cy="30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20000" y="1930000"/>
            <a:ext cx="41770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Roadmap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10000" y="2170000"/>
            <a:ext cx="4187000" cy="2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Production InSAR providers on the same Data Hub schema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Materialize spatial assignment for national corridors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HA when session store leaves single-process files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OIDC / IAP · field offline packet · deeper amplifiers only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607000" y="1890000"/>
            <a:ext cx="4277000" cy="30300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4607000" y="1890000"/>
            <a:ext cx="36000" cy="303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667000" y="1930000"/>
            <a:ext cx="41770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62828"/>
                </a:solidFill>
                <a:latin typeface="Calibri"/>
              </a:rPr>
              <a:t>Non-negotiable honesty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657000" y="2170000"/>
            <a:ext cx="4187000" cy="2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Outlook bands ≠ collapse / failure dates — always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Gemini narrates tool numbers only — always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Synthetic demo data labelled in the UI — always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0F1D1B"/>
                </a:solidFill>
                <a:latin typeface="Calibri"/>
              </a:rPr>
              <a:t>•  Secrets in Secret Manager / .env — never in git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F766E"/>
                </a:solidFill>
                <a:latin typeface="Calibri"/>
              </a:rPr>
              <a:t>JUDGE PATH · LINKS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0F1D1B"/>
                </a:solidFill>
                <a:latin typeface="Calibri"/>
              </a:rPr>
              <a:t>Sign in → Command Center → NH-58 site → Work Order → Data Hub (5 minutes).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60000" y="1300000"/>
            <a:ext cx="8624000" cy="98666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260000" y="1300000"/>
            <a:ext cx="36000" cy="98666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50000" y="1350000"/>
            <a:ext cx="8464000" cy="906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1 · GitHub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D1B"/>
                </a:solidFill>
                <a:latin typeface="Calibri"/>
              </a:rPr>
              <a:t>https://github.com/ramasamyp-aiengineer/terra-sentinel-ai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260000" y="2356666"/>
            <a:ext cx="8624000" cy="98666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260000" y="2356666"/>
            <a:ext cx="36000" cy="98666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50000" y="2406666"/>
            <a:ext cx="8464000" cy="906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2 · Demo video (3 min)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D1B"/>
                </a:solidFill>
                <a:latin typeface="Calibri"/>
              </a:rPr>
              <a:t>docs/pitch/TerraSentinel-AI-Demo-3min.mp4 — upload to Drive/YouTube for the portal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260000" y="3413332"/>
            <a:ext cx="8624000" cy="98666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260000" y="3413332"/>
            <a:ext cx="36000" cy="98666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50000" y="3463332"/>
            <a:ext cx="8464000" cy="906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D4ED8"/>
                </a:solidFill>
                <a:latin typeface="Calibri"/>
              </a:rPr>
              <a:t>3 · Live product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D1B"/>
                </a:solidFill>
                <a:latin typeface="Calibri"/>
              </a:rPr>
              <a:t>https://terrasentinel-598899050820.asia-southeast1.run.app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260000" y="4469998"/>
            <a:ext cx="8624000" cy="4500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260000" y="4469998"/>
            <a:ext cx="36000" cy="45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40000" y="4519998"/>
            <a:ext cx="846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Credentials are shown on the sign-in page (judge demo hint).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D1B"/>
                </a:solidFill>
                <a:latin typeface="Calibri"/>
              </a:rPr>
              <a:t>Look for: Act list · outlook band (not a date) · “numbers verified” on the work order.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260000" y="580000"/>
            <a:ext cx="8624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F766E"/>
                </a:solidFill>
                <a:latin typeface="Calibri"/>
              </a:rPr>
              <a:t>RISK ENGINE MATHS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D1B"/>
                </a:solidFill>
                <a:latin typeface="Calibri"/>
              </a:rPr>
              <a:t>Measure → Score → Project. Deterministic, tested, explainable.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260000" y="1300000"/>
            <a:ext cx="2828000" cy="3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260000" y="1300000"/>
            <a:ext cx="36000" cy="36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20000" y="1350000"/>
            <a:ext cx="2728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1 · Measure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10000" y="1630000"/>
            <a:ext cx="2738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Recent speed: slope last 60 d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Baseline: 270 to 90 d ago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Accel = |recent|/max(|base|,0.5)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Persistence · seasonal recovery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Site = median in 250 m bin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conf mixes coh·epochs·pts·SNR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Weak data can never be CRITICAL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3158000" y="1300000"/>
            <a:ext cx="2828000" cy="3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158000" y="1300000"/>
            <a:ext cx="36000" cy="3620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218000" y="1350000"/>
            <a:ext cx="2728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2 · Score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208000" y="1630000"/>
            <a:ext cx="2738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kin=100*(.4s+.3a+.3p)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hazard=kin*(1+0.5*rain/200)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RPI=hazard*(0.5+0.5*crit)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      *(0.5+0.5*conf)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Slow/far x0.2 · seasonal x0.35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WEAK cap 15 · quakes never scored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CRITICAL / ELEVATED / WATCH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6056000" y="1300000"/>
            <a:ext cx="2828000" cy="3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056000" y="1300000"/>
            <a:ext cx="36000" cy="362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116000" y="1350000"/>
            <a:ext cx="2728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62828"/>
                </a:solidFill>
                <a:latin typeface="Calibri"/>
              </a:rPr>
              <a:t>3 · Project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106000" y="1630000"/>
            <a:ext cx="2738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ETA_const = remaining / speed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ETA_accel = quadratic root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band=[min,max] &lt;= 365 d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Highway 40 mm / 180 d demo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Metro 25 mm · Dam 30 mm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ALWAYS a band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1D1B"/>
                </a:solidFill>
                <a:latin typeface="Calibri"/>
              </a:rPr>
              <a:t>•  NEVER a failure date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