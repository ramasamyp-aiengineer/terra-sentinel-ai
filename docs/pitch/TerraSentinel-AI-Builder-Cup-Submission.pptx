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13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>
                <a:solidFill>
                  <a:srgbClr val="0F766E"/>
                </a:solidFill>
                <a:latin typeface="Calibri"/>
              </a:rPr>
              <a:t>TEAM DETAILS  ·  AI BUILDER CUP 2026  ·  JAPAC  ·  SUSTAINABILITY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>
              <a:spcAft>
                <a:spcPts val="200"/>
              </a:spcAft>
            </a:pPr>
            <a:r>
              <a:rPr sz="400" b="0">
                <a:solidFill>
                  <a:srgbClr val="475854"/>
                </a:solidFill>
                <a:latin typeface="Calibri"/>
              </a:rPr>
              <a:t/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0F1D1B"/>
                </a:solidFill>
                <a:latin typeface="Calibri"/>
              </a:rPr>
              <a:t>Team name:  Agent Ram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0F1D1B"/>
                </a:solidFill>
                <a:latin typeface="Calibri"/>
              </a:rPr>
              <a:t>Team leader:  Ramasamy P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Product:  TerraSentinel AI — ground-motion early warning for roads, metros &amp; dams</a:t>
            </a:r>
          </a:p>
          <a:p>
            <a:pPr>
              <a:spcAft>
                <a:spcPts val="200"/>
              </a:spcAft>
            </a:pPr>
            <a:r>
              <a:rPr sz="400" b="0">
                <a:solidFill>
                  <a:srgbClr val="475854"/>
                </a:solidFill>
                <a:latin typeface="Calibri"/>
              </a:rPr>
              <a:t/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Problem statement: After each Sentinel-1 pass, operators still face thousands of InSAR points with no consequence ranking. TerraSentinel cuts motion into 250 m sites, ranks who inspects today (RPI × tier), reports honest time-to-threshold bands (never failure dates), and uses Gemini to draft a number-verified inspection ticket.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TERRASENTINEL AI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>
              <a:spcAft>
                <a:spcPts val="200"/>
              </a:spcAft>
            </a:pPr>
            <a:r>
              <a:rPr sz="1600" b="1">
                <a:solidFill>
                  <a:srgbClr val="0F1D1B"/>
                </a:solidFill>
                <a:latin typeface="Calibri"/>
              </a:rPr>
              <a:t>Satellites see the ground move. Gemini tells engineers where to go first.</a:t>
            </a: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  <p:sp>
        <p:nvSpPr>
          <p:cNvPr id="65" name="Rounded Rectangle 64"/>
          <p:cNvSpPr/>
          <p:nvPr/>
        </p:nvSpPr>
        <p:spPr>
          <a:xfrm>
            <a:off x="220000" y="3650000"/>
            <a:ext cx="2153500" cy="900000"/>
          </a:xfrm>
          <a:prstGeom prst="roundRect">
            <a:avLst>
              <a:gd name="adj" fmla="val 12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20000" y="3650000"/>
            <a:ext cx="45000" cy="90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90000" y="3730000"/>
            <a:ext cx="2053500" cy="7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F766E"/>
                </a:solidFill>
                <a:latin typeface="Calibri"/>
              </a:rPr>
              <a:t>87 → 7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475854"/>
                </a:solidFill>
                <a:latin typeface="Calibri"/>
              </a:rPr>
              <a:t>sites to the few that need a crew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403500" y="3650000"/>
            <a:ext cx="2153500" cy="900000"/>
          </a:xfrm>
          <a:prstGeom prst="roundRect">
            <a:avLst>
              <a:gd name="adj" fmla="val 12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403500" y="3650000"/>
            <a:ext cx="45000" cy="90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473500" y="3730000"/>
            <a:ext cx="2053500" cy="7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C62828"/>
                </a:solidFill>
                <a:latin typeface="Calibri"/>
              </a:rPr>
              <a:t>RPI 86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475854"/>
                </a:solidFill>
                <a:latin typeface="Calibri"/>
              </a:rPr>
              <a:t>NH-58 CRITICAL · 35–64 day band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587000" y="3650000"/>
            <a:ext cx="2153500" cy="900000"/>
          </a:xfrm>
          <a:prstGeom prst="roundRect">
            <a:avLst>
              <a:gd name="adj" fmla="val 12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587000" y="3650000"/>
            <a:ext cx="45000" cy="900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657000" y="3730000"/>
            <a:ext cx="2053500" cy="7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D9488"/>
                </a:solidFill>
                <a:latin typeface="Calibri"/>
              </a:rPr>
              <a:t>Gemini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475854"/>
                </a:solidFill>
                <a:latin typeface="Calibri"/>
              </a:rPr>
              <a:t>ticket from verified tool numbers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770500" y="3650000"/>
            <a:ext cx="2153500" cy="900000"/>
          </a:xfrm>
          <a:prstGeom prst="roundRect">
            <a:avLst>
              <a:gd name="adj" fmla="val 12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770500" y="3650000"/>
            <a:ext cx="45000" cy="90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840500" y="3730000"/>
            <a:ext cx="2053500" cy="7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D4ED8"/>
                </a:solidFill>
                <a:latin typeface="Calibri"/>
              </a:rPr>
              <a:t>GCP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475854"/>
                </a:solidFill>
                <a:latin typeface="Calibri"/>
              </a:rPr>
              <a:t>Cloud Run · BigQuery · Vertex 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0F1D1B"/>
                </a:solidFill>
                <a:latin typeface="Calibri"/>
              </a:rPr>
              <a:t>Ground creeps for months. Nobody ranks which creep matters — so crews go to the wrong place.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20000" y="1100000"/>
            <a:ext cx="3100000" cy="1050000"/>
          </a:xfrm>
          <a:prstGeom prst="roundRect">
            <a:avLst>
              <a:gd name="adj" fmla="val 12000"/>
            </a:avLst>
          </a:prstGeom>
          <a:solidFill>
            <a:srgbClr val="FDECEC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20000" y="1100000"/>
            <a:ext cx="45000" cy="105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10000" y="1160000"/>
            <a:ext cx="2900000" cy="9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C62828"/>
                </a:solidFill>
                <a:latin typeface="Calibri"/>
              </a:rPr>
              <a:t>Mountain highways · NH-58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Sole valley access. One slope slip cuts towns, pilgrims, supply.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20000" y="2220000"/>
            <a:ext cx="3100000" cy="900000"/>
          </a:xfrm>
          <a:prstGeom prst="roundRect">
            <a:avLst>
              <a:gd name="adj" fmla="val 12000"/>
            </a:avLst>
          </a:prstGeom>
          <a:solidFill>
            <a:srgbClr val="FDF2E3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20000" y="2220000"/>
            <a:ext cx="45000" cy="9000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10000" y="2280000"/>
            <a:ext cx="2900000" cy="8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Metro tunnels · Chennai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Settlement under roads &amp; buildings. Tight tolerances, dense exposure.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220000" y="3200000"/>
            <a:ext cx="3100000" cy="900000"/>
          </a:xfrm>
          <a:prstGeom prst="roundRect">
            <a:avLst>
              <a:gd name="adj" fmla="val 12000"/>
            </a:avLst>
          </a:prstGeom>
          <a:solidFill>
            <a:srgbClr val="F4F7F6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20000" y="3200000"/>
            <a:ext cx="45000" cy="9000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10000" y="3260000"/>
            <a:ext cx="2900000" cy="8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64748B"/>
                </a:solidFill>
                <a:latin typeface="Calibri"/>
              </a:rPr>
              <a:t>Dams &amp; tailings · mining belt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Crest settlement / toe motion with severe downstream consequence.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20000" y="4180000"/>
            <a:ext cx="3100000" cy="700000"/>
          </a:xfrm>
          <a:prstGeom prst="roundRect">
            <a:avLst>
              <a:gd name="adj" fmla="val 12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20000" y="4180000"/>
            <a:ext cx="45000" cy="70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10000" y="4230000"/>
            <a:ext cx="2900000" cy="6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1">
                <a:solidFill>
                  <a:srgbClr val="0F766E"/>
                </a:solidFill>
                <a:latin typeface="Calibri"/>
              </a:rPr>
              <a:t>The one decision we support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After this pass: which 250 m needs an engineer, why, and how soon?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470000" y="1100000"/>
            <a:ext cx="5454000" cy="2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570000" y="1160000"/>
            <a:ext cx="5254000" cy="4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0F1D1B"/>
                </a:solidFill>
                <a:latin typeface="Calibri"/>
              </a:rPr>
              <a:t>Today’s options fail the decision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570000" y="1520000"/>
            <a:ext cx="5254000" cy="1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Raw InSAR portal — thousands of points, no asset link, no “who goes today”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Rainfall alarm — treats the trigger as the hazard; fires over stable ground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Generic AI chatbot — fluent text that invents mm and failure dates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Scheduled walk-over — calendar ignores which segment is accelerating now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470000" y="3250000"/>
            <a:ext cx="2677000" cy="165000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470000" y="3250000"/>
            <a:ext cx="45000" cy="16500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570000" y="3310000"/>
            <a:ext cx="2577000" cy="3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We do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570000" y="3620000"/>
            <a:ext cx="2577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Progressive creep on linear assets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Rank, explain, track between passes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Threshold-crossing window + assumptions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247000" y="3250000"/>
            <a:ext cx="2677000" cy="1650000"/>
          </a:xfrm>
          <a:prstGeom prst="roundRect">
            <a:avLst>
              <a:gd name="adj" fmla="val 12000"/>
            </a:avLst>
          </a:prstGeom>
          <a:solidFill>
            <a:srgbClr val="FDECEC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247000" y="3250000"/>
            <a:ext cx="45000" cy="165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347000" y="3310000"/>
            <a:ext cx="2527000" cy="3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C62828"/>
                </a:solidFill>
                <a:latin typeface="Calibri"/>
              </a:rPr>
              <a:t>We refuse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47000" y="3620000"/>
            <a:ext cx="2527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Failure dates / collapse prediction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Sudden events between 6–12 day passes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Certified safety decisions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OPPORTUNITIES · DIFFERENTIATION · USP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>
              <a:spcAft>
                <a:spcPts val="200"/>
              </a:spcAft>
            </a:pPr>
            <a:r>
              <a:rPr sz="1600" b="1">
                <a:solidFill>
                  <a:srgbClr val="0F1D1B"/>
                </a:solidFill>
                <a:latin typeface="Calibri"/>
              </a:rPr>
              <a:t>Not another InSAR viewer — a decision layer with honest outlooks and guarded GenAI.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220000" y="1100000"/>
            <a:ext cx="2861333" cy="3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20000" y="1100000"/>
            <a:ext cx="45000" cy="370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20000" y="1180000"/>
            <a:ext cx="2701333" cy="3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F766E"/>
                </a:solidFill>
                <a:latin typeface="Calibri"/>
              </a:rPr>
              <a:t>How different?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00000" y="1520000"/>
            <a:ext cx="2721333" cy="3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250 m chainage sites on corridor geometry — not a heat-map of every scatterer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RPI = hazard × consequence × confidence (deterministic Python / BigQuery)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Pass-to-pass alerts = diffs; Act list = today’s state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Rain amplifies only (capped +50%); USGS quakes never score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Gemini narrates tool results; engine owns every number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141333" y="1100000"/>
            <a:ext cx="2861333" cy="3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141333" y="1100000"/>
            <a:ext cx="45000" cy="37000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241333" y="1180000"/>
            <a:ext cx="2701333" cy="3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How it solves it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221333" y="1520000"/>
            <a:ext cx="2721333" cy="3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Ingest → validate → locate on assets → measure speed/accel/progress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Classify with WEAK data guard (weak radar can never be CRITICAL)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Rank Act-today shortlist for engineers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Outlook = [ETA_const, ETA_accel] band ≤ 365 d — never a date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Work order: summary · hypothesis · urgency · field checklist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062666" y="1100000"/>
            <a:ext cx="2861333" cy="3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062666" y="1100000"/>
            <a:ext cx="45000" cy="370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162666" y="1180000"/>
            <a:ext cx="2701333" cy="3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C62828"/>
                </a:solidFill>
                <a:latin typeface="Calibri"/>
              </a:rPr>
              <a:t>USP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142666" y="1520000"/>
            <a:ext cx="2721333" cy="3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Honest ETA bands with continuing-regime assumption spelled out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Number guard rejects invented mm / “will collapse” language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Same maths local CSV XOR BigQuery (TS_DATA_BACKEND)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Production GCP posture: Cloud Run, Secret Manager, GCS state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Demo value: 62,330 obs → 87 sites → 7 action → 4 Act today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200"/>
              </a:spcAft>
            </a:pPr>
            <a:r>
              <a:rPr sz="1600" b="1">
                <a:solidFill>
                  <a:srgbClr val="0F1D1B"/>
                </a:solidFill>
                <a:latin typeface="Calibri"/>
              </a:rPr>
              <a:t>Command Center to Work Order — every surface ships a decision, not a dashboard toy.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20000" y="1100000"/>
            <a:ext cx="2153500" cy="1650000"/>
          </a:xfrm>
          <a:prstGeom prst="roundRect">
            <a:avLst>
              <a:gd name="adj" fmla="val 12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220000" y="1100000"/>
            <a:ext cx="45000" cy="165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00000" y="1170000"/>
            <a:ext cx="2013500" cy="153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Command Center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Map + KPIs + Act today. CRITICAL/ELEVATED ranked by consequence, not raw mm.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403500" y="1100000"/>
            <a:ext cx="2153500" cy="1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403500" y="1100000"/>
            <a:ext cx="45000" cy="165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83500" y="1170000"/>
            <a:ext cx="2013500" cy="153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Site drawer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RPI, speed vs baseline, rain trigger, outlook band, trend across passes.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587000" y="1100000"/>
            <a:ext cx="2153500" cy="1650000"/>
          </a:xfrm>
          <a:prstGeom prst="roundRect">
            <a:avLst>
              <a:gd name="adj" fmla="val 12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587000" y="1100000"/>
            <a:ext cx="45000" cy="165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667000" y="1170000"/>
            <a:ext cx="2013500" cy="153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Alerts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What changed between satellite passes — not a duplicate of the Act list.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770500" y="1100000"/>
            <a:ext cx="2153500" cy="1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770500" y="1100000"/>
            <a:ext cx="45000" cy="165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850500" y="1170000"/>
            <a:ext cx="2013500" cy="153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Brief · Early Warning · Trends · Portfolio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Planning views; history recomputed from data so past scores reproduce.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20000" y="2830000"/>
            <a:ext cx="2153500" cy="1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20000" y="2830000"/>
            <a:ext cx="45000" cy="165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00000" y="2900000"/>
            <a:ext cx="2013500" cy="153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Work Orders + Gemini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Template-first ticket; Gemini polishes via 7 tools; guard verifies numbers.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403500" y="2830000"/>
            <a:ext cx="2153500" cy="1650000"/>
          </a:xfrm>
          <a:prstGeom prst="roundRect">
            <a:avLst>
              <a:gd name="adj" fmla="val 12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403500" y="2830000"/>
            <a:ext cx="45000" cy="165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483500" y="2900000"/>
            <a:ext cx="2013500" cy="153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Data Hub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Validate-then-import CSV/GeoJSON; Open-Meteo rain; provenance; BigQuery sync.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4587000" y="2830000"/>
            <a:ext cx="2153500" cy="1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587000" y="2830000"/>
            <a:ext cx="45000" cy="165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667000" y="2900000"/>
            <a:ext cx="2013500" cy="153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Access &amp; audit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admin / analyst / viewer RBAC · sessions · CSRF · audit log.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770500" y="2830000"/>
            <a:ext cx="2153500" cy="1650000"/>
          </a:xfrm>
          <a:prstGeom prst="roundRect">
            <a:avLst>
              <a:gd name="adj" fmla="val 12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770500" y="2830000"/>
            <a:ext cx="45000" cy="165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850500" y="2900000"/>
            <a:ext cx="2013500" cy="153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Methodology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Published formulae so every score is auditable by an engineer.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PROCESS / USE-CASE FLOW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200"/>
              </a:spcAft>
            </a:pPr>
            <a:r>
              <a:rPr sz="1600" b="1">
                <a:solidFill>
                  <a:srgbClr val="0F1D1B"/>
                </a:solidFill>
                <a:latin typeface="Calibri"/>
              </a:rPr>
              <a:t>One satellite pass: from space to a crew at the right 250 metres.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20000" y="1100000"/>
            <a:ext cx="1720800" cy="2000000"/>
          </a:xfrm>
          <a:prstGeom prst="roundRect">
            <a:avLst>
              <a:gd name="adj" fmla="val 12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20000" y="1100000"/>
            <a:ext cx="45000" cy="200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70000" y="1170000"/>
            <a:ext cx="1620800" cy="18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1 · Pass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0F1D1B"/>
                </a:solidFill>
                <a:latin typeface="Calibri"/>
              </a:rPr>
              <a:t>Every 6–12 days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Sentinel-1 measures mm motion through cloud &amp; night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965800" y="1100000"/>
            <a:ext cx="1720800" cy="20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965800" y="1100000"/>
            <a:ext cx="45000" cy="200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015800" y="1170000"/>
            <a:ext cx="1620800" cy="18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2 · Map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0F1D1B"/>
                </a:solidFill>
                <a:latin typeface="Calibri"/>
              </a:rPr>
              <a:t>Onto the asset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1,355 points → highway / metro / dam → 87×250 m sites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711600" y="1100000"/>
            <a:ext cx="1720800" cy="2000000"/>
          </a:xfrm>
          <a:prstGeom prst="roundRect">
            <a:avLst>
              <a:gd name="adj" fmla="val 12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3711600" y="1100000"/>
            <a:ext cx="45000" cy="200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761600" y="1170000"/>
            <a:ext cx="1620800" cy="18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3 · Rank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0F1D1B"/>
                </a:solidFill>
                <a:latin typeface="Calibri"/>
              </a:rPr>
              <a:t>What matters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Fast + accelerating + critical + good data rises; rain alone never alarms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457400" y="1100000"/>
            <a:ext cx="1720800" cy="20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457400" y="1100000"/>
            <a:ext cx="45000" cy="200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507400" y="1170000"/>
            <a:ext cx="1620800" cy="18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4 · Gemini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0F1D1B"/>
                </a:solidFill>
                <a:latin typeface="Calibri"/>
              </a:rPr>
              <a:t>Ticket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Tools → reason → JSON → number guard → checklist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203200" y="1100000"/>
            <a:ext cx="1720800" cy="2000000"/>
          </a:xfrm>
          <a:prstGeom prst="roundRect">
            <a:avLst>
              <a:gd name="adj" fmla="val 12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7203200" y="1100000"/>
            <a:ext cx="45000" cy="200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253200" y="1170000"/>
            <a:ext cx="1620800" cy="18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5 · Next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0F1D1B"/>
                </a:solidFill>
                <a:latin typeface="Calibri"/>
              </a:rPr>
              <a:t>Keep watching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4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Crew acts; next pass shows calm-down or worse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220000" y="3250000"/>
            <a:ext cx="8704000" cy="1550000"/>
          </a:xfrm>
          <a:prstGeom prst="roundRect">
            <a:avLst>
              <a:gd name="adj" fmla="val 12000"/>
            </a:avLst>
          </a:prstGeom>
          <a:solidFill>
            <a:srgbClr val="F4F7F6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00000" y="3320000"/>
            <a:ext cx="8544000" cy="3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One pass on the demo dataset (labelled synthetic)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20000" y="3700000"/>
            <a:ext cx="1660800" cy="9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0F766E"/>
                </a:solidFill>
                <a:latin typeface="Calibri"/>
              </a:rPr>
              <a:t>62,330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475854"/>
                </a:solidFill>
                <a:latin typeface="Calibri"/>
              </a:rPr>
              <a:t>disp. obs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20800" y="3700000"/>
            <a:ext cx="1660800" cy="9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0F766E"/>
                </a:solidFill>
                <a:latin typeface="Calibri"/>
              </a:rPr>
              <a:t>1,355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475854"/>
                </a:solidFill>
                <a:latin typeface="Calibri"/>
              </a:rPr>
              <a:t>radar pts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721600" y="3700000"/>
            <a:ext cx="1660800" cy="9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0F766E"/>
                </a:solidFill>
                <a:latin typeface="Calibri"/>
              </a:rPr>
              <a:t>87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475854"/>
                </a:solidFill>
                <a:latin typeface="Calibri"/>
              </a:rPr>
              <a:t>250 m sites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22400" y="3700000"/>
            <a:ext cx="1660800" cy="9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C62828"/>
                </a:solidFill>
                <a:latin typeface="Calibri"/>
              </a:rPr>
              <a:t>7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475854"/>
                </a:solidFill>
                <a:latin typeface="Calibri"/>
              </a:rPr>
              <a:t>CRIT/ELEV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123200" y="3700000"/>
            <a:ext cx="1660800" cy="9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C62828"/>
                </a:solidFill>
                <a:latin typeface="Calibri"/>
              </a:rPr>
              <a:t>4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475854"/>
                </a:solidFill>
                <a:latin typeface="Calibri"/>
              </a:rPr>
              <a:t>Act today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PRODUCT UI (LIVE PROTOTYPE)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200"/>
              </a:spcAft>
            </a:pPr>
            <a:r>
              <a:rPr sz="1600" b="1">
                <a:solidFill>
                  <a:srgbClr val="0F1D1B"/>
                </a:solidFill>
                <a:latin typeface="Calibri"/>
              </a:rPr>
              <a:t>Not wireframes — the running product judges can open today.</a:t>
            </a:r>
          </a:p>
        </p:txBody>
      </p:sp>
      <p:pic>
        <p:nvPicPr>
          <p:cNvPr id="104" name="Picture 103" descr="c-comma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000" y="1100000"/>
            <a:ext cx="4307000" cy="1510000"/>
          </a:xfrm>
          <a:prstGeom prst="rect">
            <a:avLst/>
          </a:prstGeom>
        </p:spPr>
      </p:pic>
      <p:sp>
        <p:nvSpPr>
          <p:cNvPr id="105" name="Rounded Rectangle 104"/>
          <p:cNvSpPr/>
          <p:nvPr/>
        </p:nvSpPr>
        <p:spPr>
          <a:xfrm>
            <a:off x="220000" y="2615000"/>
            <a:ext cx="4307000" cy="85000"/>
          </a:xfrm>
          <a:prstGeom prst="roundRect">
            <a:avLst>
              <a:gd name="adj" fmla="val 12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60000" y="2625000"/>
            <a:ext cx="4227000" cy="7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Command Center · Act list</a:t>
            </a:r>
          </a:p>
        </p:txBody>
      </p:sp>
      <p:pic>
        <p:nvPicPr>
          <p:cNvPr id="107" name="Picture 106" descr="c-site-no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7000" y="1100000"/>
            <a:ext cx="4307000" cy="1510000"/>
          </a:xfrm>
          <a:prstGeom prst="rect">
            <a:avLst/>
          </a:prstGeom>
        </p:spPr>
      </p:pic>
      <p:sp>
        <p:nvSpPr>
          <p:cNvPr id="108" name="Rounded Rectangle 107"/>
          <p:cNvSpPr/>
          <p:nvPr/>
        </p:nvSpPr>
        <p:spPr>
          <a:xfrm>
            <a:off x="4617000" y="2615000"/>
            <a:ext cx="4307000" cy="85000"/>
          </a:xfrm>
          <a:prstGeom prst="roundRect">
            <a:avLst>
              <a:gd name="adj" fmla="val 12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657000" y="2625000"/>
            <a:ext cx="4227000" cy="7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Site Now · RPI &amp; outlook</a:t>
            </a:r>
          </a:p>
        </p:txBody>
      </p:sp>
      <p:pic>
        <p:nvPicPr>
          <p:cNvPr id="110" name="Picture 109" descr="c-workorder-a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0000" y="2770000"/>
            <a:ext cx="4307000" cy="1510000"/>
          </a:xfrm>
          <a:prstGeom prst="rect">
            <a:avLst/>
          </a:prstGeom>
        </p:spPr>
      </p:pic>
      <p:sp>
        <p:nvSpPr>
          <p:cNvPr id="111" name="Rounded Rectangle 110"/>
          <p:cNvSpPr/>
          <p:nvPr/>
        </p:nvSpPr>
        <p:spPr>
          <a:xfrm>
            <a:off x="220000" y="4285000"/>
            <a:ext cx="4307000" cy="85000"/>
          </a:xfrm>
          <a:prstGeom prst="roundRect">
            <a:avLst>
              <a:gd name="adj" fmla="val 12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60000" y="4295000"/>
            <a:ext cx="4227000" cy="7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Gemini work order</a:t>
            </a:r>
          </a:p>
        </p:txBody>
      </p:sp>
      <p:pic>
        <p:nvPicPr>
          <p:cNvPr id="113" name="Picture 112" descr="c-datahu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17000" y="2770000"/>
            <a:ext cx="4307000" cy="1510000"/>
          </a:xfrm>
          <a:prstGeom prst="rect">
            <a:avLst/>
          </a:prstGeom>
        </p:spPr>
      </p:pic>
      <p:sp>
        <p:nvSpPr>
          <p:cNvPr id="114" name="Rounded Rectangle 113"/>
          <p:cNvSpPr/>
          <p:nvPr/>
        </p:nvSpPr>
        <p:spPr>
          <a:xfrm>
            <a:off x="4617000" y="4285000"/>
            <a:ext cx="4307000" cy="85000"/>
          </a:xfrm>
          <a:prstGeom prst="roundRect">
            <a:avLst>
              <a:gd name="adj" fmla="val 12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657000" y="4295000"/>
            <a:ext cx="4227000" cy="7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Data Hub · validate→import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ARCHITECTURE ON GOOGLE CLOUD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200"/>
              </a:spcAft>
            </a:pPr>
            <a:r>
              <a:rPr sz="1600" b="1">
                <a:solidFill>
                  <a:srgbClr val="0F1D1B"/>
                </a:solidFill>
                <a:latin typeface="Calibri"/>
              </a:rPr>
              <a:t>One container · two storage backends · the same tested maths.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220000" y="1100000"/>
            <a:ext cx="8704000" cy="48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20000" y="1100000"/>
            <a:ext cx="60000" cy="480000"/>
          </a:xfrm>
          <a:prstGeom prst="rect">
            <a:avLst/>
          </a:prstGeom>
          <a:solidFill>
            <a:srgbClr val="0F1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40000" y="1170000"/>
            <a:ext cx="1100000" cy="3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EDGE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20000" y="1170000"/>
            <a:ext cx="7254000" cy="3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Cloud Run · HTTPS · CSP/HSTS · rate limits · session cookie · GCS state volume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20000" y="1605000"/>
            <a:ext cx="8704000" cy="48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20000" y="1605000"/>
            <a:ext cx="60000" cy="48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40000" y="1675000"/>
            <a:ext cx="1100000" cy="3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D4ED8"/>
                </a:solidFill>
                <a:latin typeface="Calibri"/>
              </a:rPr>
              <a:t>UI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520000" y="1675000"/>
            <a:ext cx="7254000" cy="3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React 19 · MapLibre · React Query · role-aware screens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20000" y="2110000"/>
            <a:ext cx="8704000" cy="48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20000" y="2110000"/>
            <a:ext cx="60000" cy="480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40000" y="2180000"/>
            <a:ext cx="1100000" cy="3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D9488"/>
                </a:solidFill>
                <a:latin typeface="Calibri"/>
              </a:rPr>
              <a:t>API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520000" y="2180000"/>
            <a:ext cx="7254000" cy="3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FastAPI · RBAC viewer/analyst/admin · CSRF · SSRF-safe fetch · audit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20000" y="2615000"/>
            <a:ext cx="8704000" cy="48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220000" y="2615000"/>
            <a:ext cx="60000" cy="48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40000" y="2685000"/>
            <a:ext cx="1100000" cy="3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ENGINE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520000" y="2685000"/>
            <a:ext cx="7254000" cy="3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numpy · pandas · shapely — metrics, RPI, tiers, ETA bands, alerts, pass replay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20000" y="3120000"/>
            <a:ext cx="8704000" cy="48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220000" y="3120000"/>
            <a:ext cx="60000" cy="4800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40000" y="3190000"/>
            <a:ext cx="1100000" cy="3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GENAI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520000" y="3190000"/>
            <a:ext cx="7254000" cy="3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Gemini tool loop · number guard · model fallback · AI Studio or Vertex (ADC)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220000" y="3625000"/>
            <a:ext cx="8704000" cy="48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20000" y="3625000"/>
            <a:ext cx="60000" cy="4800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340000" y="3695000"/>
            <a:ext cx="1100000" cy="3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64748B"/>
                </a:solidFill>
                <a:latin typeface="Calibri"/>
              </a:rPr>
              <a:t>DATA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520000" y="3695000"/>
            <a:ext cx="7254000" cy="3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BigQuery (GEOGRAPHY, partitions) XOR local · USGS store · provenance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TECHNOLOGIES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200"/>
              </a:spcAft>
            </a:pPr>
            <a:r>
              <a:rPr sz="1600" b="1">
                <a:solidFill>
                  <a:srgbClr val="0F1D1B"/>
                </a:solidFill>
                <a:latin typeface="Calibri"/>
              </a:rPr>
              <a:t>Google Cloud end-to-end. Gemini turns a risk score into an action.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20000" y="1100000"/>
            <a:ext cx="1716800" cy="1150000"/>
          </a:xfrm>
          <a:prstGeom prst="roundRect">
            <a:avLst>
              <a:gd name="adj" fmla="val 12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20000" y="1100000"/>
            <a:ext cx="45000" cy="115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60000" y="1160000"/>
            <a:ext cx="1636800" cy="10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D9488"/>
                </a:solidFill>
                <a:latin typeface="Calibri"/>
              </a:rPr>
              <a:t>Ingest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Cloud Run
Data Hub validate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966800" y="1100000"/>
            <a:ext cx="1716800" cy="1150000"/>
          </a:xfrm>
          <a:prstGeom prst="roundRect">
            <a:avLst>
              <a:gd name="adj" fmla="val 12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966800" y="1100000"/>
            <a:ext cx="45000" cy="115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006800" y="1160000"/>
            <a:ext cx="1636800" cy="10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D9488"/>
                </a:solidFill>
                <a:latin typeface="Calibri"/>
              </a:rPr>
              <a:t>Store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BigQuery
GIS join · history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3713600" y="1100000"/>
            <a:ext cx="1716800" cy="1150000"/>
          </a:xfrm>
          <a:prstGeom prst="roundRect">
            <a:avLst>
              <a:gd name="adj" fmla="val 12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3713600" y="1100000"/>
            <a:ext cx="45000" cy="115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3753600" y="1160000"/>
            <a:ext cx="1636800" cy="10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D9488"/>
                </a:solidFill>
                <a:latin typeface="Calibri"/>
              </a:rPr>
              <a:t>Compute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Cloud Run
risk engine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5460400" y="1100000"/>
            <a:ext cx="1716800" cy="11500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5460400" y="1100000"/>
            <a:ext cx="45000" cy="1150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500400" y="1160000"/>
            <a:ext cx="1636800" cy="10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Explain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Gemini
Vertex / Studio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7207200" y="1100000"/>
            <a:ext cx="1716800" cy="1150000"/>
          </a:xfrm>
          <a:prstGeom prst="roundRect">
            <a:avLst>
              <a:gd name="adj" fmla="val 12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7207200" y="1100000"/>
            <a:ext cx="45000" cy="115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247200" y="1160000"/>
            <a:ext cx="1636800" cy="10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D9488"/>
                </a:solidFill>
                <a:latin typeface="Calibri"/>
              </a:rPr>
              <a:t>Act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Engineers
map · ticket · audit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220000" y="2400000"/>
            <a:ext cx="4312000" cy="24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220000" y="2400000"/>
            <a:ext cx="45000" cy="240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10000" y="2460000"/>
            <a:ext cx="4152000" cy="3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Gemini (what GenAI does)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10000" y="2800000"/>
            <a:ext cx="4152000" cy="18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•  7 read-only tools: metrics, history, outlook, rain, seismic, exposure, quality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•  Round 0 MUST call tools → investigate → write JSON → guard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•  Rejects inventing mm/days; rejects “will collapse” / failure dates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•  Temp 0.1 · budget · fallback flash-latest → lite on 429/5xx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•  Live proof: 6 tool calls · 7 numbers verified · “inspect within 24h”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4612000" y="2400000"/>
            <a:ext cx="4312000" cy="24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4612000" y="2400000"/>
            <a:ext cx="45000" cy="240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702000" y="2460000"/>
            <a:ext cx="4102000" cy="3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D4ED8"/>
                </a:solidFill>
                <a:latin typeface="Calibri"/>
              </a:rPr>
              <a:t>GCP services &amp; why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702000" y="2800000"/>
            <a:ext cx="4102000" cy="18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•  Vertex AI / AI Studio — Gemini for production &amp; dev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•  BigQuery — 9 tables, partitions, ST_DWITHIN join, bytes-billed cap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•  Cloud Run — one image: SPA + API + engine + agent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•  Secret Manager · GCS state · IAM via ADC (no key files)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•  Open-Meteo + USGS egress through SSRF-safe fetcher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200"/>
              </a:spcAft>
            </a:pPr>
            <a:r>
              <a:rPr sz="1600" b="1">
                <a:solidFill>
                  <a:srgbClr val="0F1D1B"/>
                </a:solidFill>
                <a:latin typeface="Calibri"/>
              </a:rPr>
              <a:t>Cup-scale economics: GenAI only on tickets; ranking stays deterministic.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20000" y="1100000"/>
            <a:ext cx="8704000" cy="620000"/>
          </a:xfrm>
          <a:prstGeom prst="roundRect">
            <a:avLst>
              <a:gd name="adj" fmla="val 12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220000" y="1100000"/>
            <a:ext cx="45000" cy="62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20000" y="1180000"/>
            <a:ext cx="2200000" cy="4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Cloud Run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620000" y="1180000"/>
            <a:ext cx="4200000" cy="4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1–2 vCPU / 2 GiB · min-instances=1 while judging · scales to 0 off-hours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920000" y="1180000"/>
            <a:ext cx="1804000" cy="4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475854"/>
                </a:solidFill>
                <a:latin typeface="Calibri"/>
              </a:rPr>
              <a:t>low tens USD/mo warm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220000" y="1780000"/>
            <a:ext cx="8704000" cy="62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20000" y="1780000"/>
            <a:ext cx="45000" cy="62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320000" y="1860000"/>
            <a:ext cx="2200000" cy="4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BigQuery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620000" y="1860000"/>
            <a:ext cx="4200000" cy="4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~62k TS rows · in-process TTL cache · maximum_bytes_billed on every job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920000" y="1860000"/>
            <a:ext cx="1804000" cy="4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475854"/>
                </a:solidFill>
                <a:latin typeface="Calibri"/>
              </a:rPr>
              <a:t>pennies–low USD demos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20000" y="2460000"/>
            <a:ext cx="8704000" cy="620000"/>
          </a:xfrm>
          <a:prstGeom prst="roundRect">
            <a:avLst>
              <a:gd name="adj" fmla="val 12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220000" y="2460000"/>
            <a:ext cx="45000" cy="62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20000" y="2540000"/>
            <a:ext cx="2200000" cy="4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Gemini Flash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620000" y="2540000"/>
            <a:ext cx="4200000" cy="4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Work-order path only · template fallback · not on hot ranking path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20000" y="2540000"/>
            <a:ext cx="1804000" cy="4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475854"/>
                </a:solidFill>
                <a:latin typeface="Calibri"/>
              </a:rPr>
              <a:t>per-ticket, optional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20000" y="3140000"/>
            <a:ext cx="8704000" cy="62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20000" y="3140000"/>
            <a:ext cx="45000" cy="62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320000" y="3220000"/>
            <a:ext cx="2200000" cy="4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Secrets + GCS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620000" y="3220000"/>
            <a:ext cx="4200000" cy="4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Admin/Gemini secrets · state volume for sessions/audit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920000" y="3220000"/>
            <a:ext cx="1804000" cy="4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475854"/>
                </a:solidFill>
                <a:latin typeface="Calibri"/>
              </a:rPr>
              <a:t>pennies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220000" y="3820000"/>
            <a:ext cx="8704000" cy="620000"/>
          </a:xfrm>
          <a:prstGeom prst="roundRect">
            <a:avLst>
              <a:gd name="adj" fmla="val 12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220000" y="3820000"/>
            <a:ext cx="45000" cy="62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20000" y="3900000"/>
            <a:ext cx="2200000" cy="4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Scale path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620000" y="3900000"/>
            <a:ext cx="4200000" cy="4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Materialize assignment · raise instances · keep engine CPU-bound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920000" y="3900000"/>
            <a:ext cx="1804000" cy="4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475854"/>
                </a:solidFill>
                <a:latin typeface="Calibri"/>
              </a:rPr>
              <a:t>linear with corridors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200"/>
              </a:spcAft>
            </a:pPr>
            <a:r>
              <a:rPr sz="1600" b="1">
                <a:solidFill>
                  <a:srgbClr val="0F1D1B"/>
                </a:solidFill>
                <a:latin typeface="Calibri"/>
              </a:rPr>
              <a:t>Demo value on screen — Chamoli corridors, NH-58 CRITICAL, guarded ticket.</a:t>
            </a:r>
          </a:p>
        </p:txBody>
      </p:sp>
      <p:pic>
        <p:nvPicPr>
          <p:cNvPr id="136" name="Picture 135" descr="c-hero-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000" y="1100000"/>
            <a:ext cx="4307000" cy="1510000"/>
          </a:xfrm>
          <a:prstGeom prst="rect">
            <a:avLst/>
          </a:prstGeom>
        </p:spPr>
      </p:pic>
      <p:sp>
        <p:nvSpPr>
          <p:cNvPr id="137" name="Rounded Rectangle 136"/>
          <p:cNvSpPr/>
          <p:nvPr/>
        </p:nvSpPr>
        <p:spPr>
          <a:xfrm>
            <a:off x="220000" y="2615000"/>
            <a:ext cx="4307000" cy="85000"/>
          </a:xfrm>
          <a:prstGeom prst="roundRect">
            <a:avLst>
              <a:gd name="adj" fmla="val 12000"/>
            </a:avLst>
          </a:prstGeom>
          <a:solidFill>
            <a:srgbClr val="0F1D1B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260000" y="2625000"/>
            <a:ext cx="4227000" cy="7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Chamoli · 69 sites · 4 act today</a:t>
            </a:r>
          </a:p>
        </p:txBody>
      </p:sp>
      <p:pic>
        <p:nvPicPr>
          <p:cNvPr id="139" name="Picture 138" descr="c-map-chamol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7000" y="1100000"/>
            <a:ext cx="4307000" cy="1510000"/>
          </a:xfrm>
          <a:prstGeom prst="rect">
            <a:avLst/>
          </a:prstGeom>
        </p:spPr>
      </p:pic>
      <p:sp>
        <p:nvSpPr>
          <p:cNvPr id="140" name="Rounded Rectangle 139"/>
          <p:cNvSpPr/>
          <p:nvPr/>
        </p:nvSpPr>
        <p:spPr>
          <a:xfrm>
            <a:off x="4617000" y="2615000"/>
            <a:ext cx="4307000" cy="85000"/>
          </a:xfrm>
          <a:prstGeom prst="roundRect">
            <a:avLst>
              <a:gd name="adj" fmla="val 12000"/>
            </a:avLst>
          </a:prstGeom>
          <a:solidFill>
            <a:srgbClr val="0F1D1B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657000" y="2625000"/>
            <a:ext cx="4227000" cy="7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Ranked map — not every scatterer</a:t>
            </a:r>
          </a:p>
        </p:txBody>
      </p:sp>
      <p:pic>
        <p:nvPicPr>
          <p:cNvPr id="142" name="Picture 141" descr="c-site-no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0000" y="2770000"/>
            <a:ext cx="4307000" cy="1510000"/>
          </a:xfrm>
          <a:prstGeom prst="rect">
            <a:avLst/>
          </a:prstGeom>
        </p:spPr>
      </p:pic>
      <p:sp>
        <p:nvSpPr>
          <p:cNvPr id="143" name="Rounded Rectangle 142"/>
          <p:cNvSpPr/>
          <p:nvPr/>
        </p:nvSpPr>
        <p:spPr>
          <a:xfrm>
            <a:off x="220000" y="4285000"/>
            <a:ext cx="4307000" cy="85000"/>
          </a:xfrm>
          <a:prstGeom prst="roundRect">
            <a:avLst>
              <a:gd name="adj" fmla="val 12000"/>
            </a:avLst>
          </a:prstGeom>
          <a:solidFill>
            <a:srgbClr val="0F1D1B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260000" y="4295000"/>
            <a:ext cx="4227000" cy="7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NH-58 · RPI 86 · 35–64 day band</a:t>
            </a:r>
          </a:p>
        </p:txBody>
      </p:sp>
      <p:pic>
        <p:nvPicPr>
          <p:cNvPr id="145" name="Picture 144" descr="c-workorder-a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17000" y="2770000"/>
            <a:ext cx="4307000" cy="1510000"/>
          </a:xfrm>
          <a:prstGeom prst="rect">
            <a:avLst/>
          </a:prstGeom>
        </p:spPr>
      </p:pic>
      <p:sp>
        <p:nvSpPr>
          <p:cNvPr id="146" name="Rounded Rectangle 145"/>
          <p:cNvSpPr/>
          <p:nvPr/>
        </p:nvSpPr>
        <p:spPr>
          <a:xfrm>
            <a:off x="4617000" y="4285000"/>
            <a:ext cx="4307000" cy="85000"/>
          </a:xfrm>
          <a:prstGeom prst="roundRect">
            <a:avLst>
              <a:gd name="adj" fmla="val 12000"/>
            </a:avLst>
          </a:prstGeom>
          <a:solidFill>
            <a:srgbClr val="0F1D1B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657000" y="4295000"/>
            <a:ext cx="4227000" cy="7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Gemini · numbers verified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PROTOTYPE PERFORMANCE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200"/>
              </a:spcAft>
            </a:pPr>
            <a:r>
              <a:rPr sz="1600" b="1">
                <a:solidFill>
                  <a:srgbClr val="0F1D1B"/>
                </a:solidFill>
                <a:latin typeface="Calibri"/>
              </a:rPr>
              <a:t>NH-58 KM 3.25–3.50 end-to-end — same numbers in UI, tools, and work order.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220000" y="1100000"/>
            <a:ext cx="4600000" cy="3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20000" y="1100000"/>
            <a:ext cx="45000" cy="370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10000" y="1160000"/>
            <a:ext cx="4400000" cy="3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62828"/>
                </a:solidFill>
                <a:latin typeface="Calibri"/>
              </a:rPr>
              <a:t>Worked example · CRITICAL · RPI 86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10000" y="1520000"/>
            <a:ext cx="4400000" cy="3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Inputs: 6.2 vs 2.8 mm/mo · 2.2× accel · 29.7/40 mm progress · 213 mm rain · crit 0.95 · conf 0.97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kin = 100×(.4·0.62 + .3·0.40 + .3·0.74) = 59.4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hazard = 59.4 × (1 + 0.5×1.0) rain-capped = 89.1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RPI = 89.1 × 0.975 × 0.985 ≈ 85.7 → CRITICAL (threshold approach)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Outlook: 51 d const · 44 d accel · widened → 35–64 days if trend continues — NOT a failure date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History: this site 61→86 RPI · portfolio action sites 3→7 over 16 recomputed passes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What-if: minor road → 57 ELEVATED · poor radar → ≤15 WEAK · rain on stable → ≈1 STABLE</a:t>
            </a:r>
          </a:p>
        </p:txBody>
      </p:sp>
      <p:pic>
        <p:nvPicPr>
          <p:cNvPr id="148" name="Picture 147" descr="c-site-tre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0000" y="1100000"/>
            <a:ext cx="3904000" cy="2200000"/>
          </a:xfrm>
          <a:prstGeom prst="rect">
            <a:avLst/>
          </a:prstGeom>
        </p:spPr>
      </p:pic>
      <p:sp>
        <p:nvSpPr>
          <p:cNvPr id="149" name="Rounded Rectangle 148"/>
          <p:cNvSpPr/>
          <p:nvPr/>
        </p:nvSpPr>
        <p:spPr>
          <a:xfrm>
            <a:off x="5020000" y="3400000"/>
            <a:ext cx="3904000" cy="1400000"/>
          </a:xfrm>
          <a:prstGeom prst="roundRect">
            <a:avLst>
              <a:gd name="adj" fmla="val 12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5020000" y="3400000"/>
            <a:ext cx="45000" cy="140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120000" y="3460000"/>
            <a:ext cx="3604000" cy="12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Live Cloud Run + BigQuery (warm)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summary ~0.4 s · sites ~0.3 s · alerts ~2 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Hot-path prefetch before history warm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0F1D1B"/>
                </a:solidFill>
                <a:latin typeface="Calibri"/>
              </a:rPr>
              <a:t>Integrity: GenAI never computes RPI/tier/ETA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200"/>
              </a:spcAft>
            </a:pPr>
            <a:r>
              <a:rPr sz="1600" b="1">
                <a:solidFill>
                  <a:srgbClr val="0F1D1B"/>
                </a:solidFill>
                <a:latin typeface="Calibri"/>
              </a:rPr>
              <a:t>Engineering invariants stay fixed. Scale the data plane — not the honesty rules.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20000" y="1100000"/>
            <a:ext cx="4312000" cy="3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220000" y="1100000"/>
            <a:ext cx="45000" cy="370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310000" y="1170000"/>
            <a:ext cx="4132000" cy="3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Roadmap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10000" y="1500000"/>
            <a:ext cx="4132000" cy="3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•  Production InSAR providers on the same Data Hub schema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•  Materialize point-assignment for national corridors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•  Multi-region HA once session store leaves single-process files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•  Field checklist / offline packet for crews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•  OIDC / IAP sign-in for enterprise buyers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•  Deeper rain/geology as amplifiers only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4612000" y="1100000"/>
            <a:ext cx="4312000" cy="3700000"/>
          </a:xfrm>
          <a:prstGeom prst="roundRect">
            <a:avLst>
              <a:gd name="adj" fmla="val 12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612000" y="1100000"/>
            <a:ext cx="45000" cy="37000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4702000" y="1170000"/>
            <a:ext cx="4102000" cy="3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Buyer · ask · honesty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702000" y="1500000"/>
            <a:ext cx="4102000" cy="3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•  Buyer: asset-integrity / geotech teams (highway, metro, dam, mine)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•  What they buy: engineer attention — 1,355 points → 7 sites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•  Ask: live demo + 3-min video + repository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•  Outlook bands ≠ collapse dates — always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•  Gemini narrates tools only — always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•  Synthetic demo data labelled in UI — always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SUBMISSION 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200"/>
              </a:spcAft>
            </a:pPr>
            <a:r>
              <a:rPr sz="1600" b="1">
                <a:solidFill>
                  <a:srgbClr val="0F1D1B"/>
                </a:solidFill>
                <a:latin typeface="Calibri"/>
              </a:rPr>
              <a:t>GitHub · 3-minute demo video · live product.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220000" y="1100000"/>
            <a:ext cx="8704000" cy="9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220000" y="1100000"/>
            <a:ext cx="70000" cy="95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370000" y="1220000"/>
            <a:ext cx="8404000" cy="7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GitHub public repository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0F1D1B"/>
                </a:solidFill>
                <a:latin typeface="Calibri"/>
              </a:rPr>
              <a:t>https://github.com/ramasamyp-aiengineer/terra-sentinel-ai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220000" y="2150000"/>
            <a:ext cx="8704000" cy="9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220000" y="2150000"/>
            <a:ext cx="70000" cy="9500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370000" y="2270000"/>
            <a:ext cx="8404000" cy="7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B45309"/>
                </a:solidFill>
                <a:latin typeface="Calibri"/>
              </a:rPr>
              <a:t>Demo video (3 minutes)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0F1D1B"/>
                </a:solidFill>
                <a:latin typeface="Calibri"/>
              </a:rPr>
              <a:t>docs/pitch/TerraSentinel-AI-Demo-3min.mp4 — upload to Drive/YouTube for the portal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220000" y="3200000"/>
            <a:ext cx="8704000" cy="9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20000" y="3200000"/>
            <a:ext cx="70000" cy="95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70000" y="3320000"/>
            <a:ext cx="8404000" cy="7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D4ED8"/>
                </a:solidFill>
                <a:latin typeface="Calibri"/>
              </a:rPr>
              <a:t>Final product (live)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0F1D1B"/>
                </a:solidFill>
                <a:latin typeface="Calibri"/>
              </a:rPr>
              <a:t>https://terrasentinel-598899050820.asia-southeast1.run.app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220000" y="4350000"/>
            <a:ext cx="8704000" cy="5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475854"/>
                </a:solidFill>
                <a:latin typeface="Calibri"/>
              </a:rPr>
              <a:t>Sign-in: username + password are shown on the login page (judge demo hint).  Judge walk: docs/JUDGE.md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220000" y="560000"/>
            <a:ext cx="8704000" cy="4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1">
                <a:solidFill>
                  <a:srgbClr val="0F766E"/>
                </a:solidFill>
                <a:latin typeface="Calibri"/>
              </a:rPr>
              <a:t>RISK ENGINE · DETERMINISTIC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Measure → Score → Project. Plain rules first, then the exact maths.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20000" y="1100000"/>
            <a:ext cx="2868000" cy="3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220000" y="1100000"/>
            <a:ext cx="45000" cy="370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300000" y="1170000"/>
            <a:ext cx="2728000" cy="3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1 · Measure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90000" y="1500000"/>
            <a:ext cx="2748000" cy="3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Recent speed: slope last 60 d (mm/mo)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Baseline: 270→90 d ago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Accel = |recent| / max(|base|, 0.5)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Persistence · seasonal recovery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Site series = median in 250 m bin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conf = .30coh+.15ep+.20pts+.20agr+.15SNR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Weak data capped — never CRITICAL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3138000" y="1100000"/>
            <a:ext cx="2868000" cy="3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138000" y="1100000"/>
            <a:ext cx="45000" cy="37000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3218000" y="1170000"/>
            <a:ext cx="2728000" cy="3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2 · Score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208000" y="1500000"/>
            <a:ext cx="2748000" cy="3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kin = 100·(.4 speed + .3 accel + .3 prog)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hazard = kin·(1 + 0.5·rain14d/200)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RPI = hazard × (0.5+0.5·crit)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        × (0.5+0.5·conf)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Slow/far: ×0.2 · Seasonal: ×0.35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WEAK cap 15 · quakes never scored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CRITICAL / ELEVATED / WATCH rules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6056000" y="1100000"/>
            <a:ext cx="2868000" cy="3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6056000" y="1100000"/>
            <a:ext cx="45000" cy="370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6136000" y="1170000"/>
            <a:ext cx="2728000" cy="3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62828"/>
                </a:solidFill>
                <a:latin typeface="Calibri"/>
              </a:rPr>
              <a:t>3 · Project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6126000" y="1500000"/>
            <a:ext cx="2748000" cy="3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ETA_const = remaining ÷ speed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ETA_accel = root of a·t²+b·t+c = T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band = [min,max] ≤ 365 d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close? → [.75, 1.35]·mid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Highway 40 mm/180 d · creep 2.0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Metro 25 mm · Dam 30 mm (demo)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•  ALWAYS a band — NEVER a date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Rounded Rectangle 172"/>
          <p:cNvSpPr/>
          <p:nvPr/>
        </p:nvSpPr>
        <p:spPr>
          <a:xfrm>
            <a:off x="220000" y="900000"/>
            <a:ext cx="8704000" cy="36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20000" y="900000"/>
            <a:ext cx="80000" cy="360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" name="Picture 174" descr="logo-mar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000" y="1050000"/>
            <a:ext cx="550000" cy="550000"/>
          </a:xfrm>
          <a:prstGeom prst="rect">
            <a:avLst/>
          </a:prstGeom>
        </p:spPr>
      </p:pic>
      <p:sp>
        <p:nvSpPr>
          <p:cNvPr id="176" name="TextBox 175"/>
          <p:cNvSpPr txBox="1"/>
          <p:nvPr/>
        </p:nvSpPr>
        <p:spPr>
          <a:xfrm>
            <a:off x="1020000" y="1100000"/>
            <a:ext cx="7704000" cy="6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0F766E"/>
                </a:solidFill>
                <a:latin typeface="Calibri"/>
              </a:rPr>
              <a:t>TerraSentinel AI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0F1D1B"/>
                </a:solidFill>
                <a:latin typeface="Calibri"/>
              </a:rPr>
              <a:t>Thank you — Team Agent Ram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70000" y="1800000"/>
            <a:ext cx="8304000" cy="18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Which 250 metres should an engineer inspect today?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475854"/>
                </a:solidFill>
                <a:latin typeface="Calibri"/>
              </a:rPr>
              <a:t>The engine ranks them. Gemini writes the ticket. Every number is checked.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0F766E"/>
                </a:solidFill>
                <a:latin typeface="Calibri"/>
              </a:rPr>
              <a:t>Ramasamy P  ·  ramp21052000@gmail.com  ·  +91 90250 32130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475854"/>
                </a:solidFill>
                <a:latin typeface="Calibri"/>
              </a:rPr>
              <a:t>Live demo + GitHub + 3-min video  ·  Google Cloud AI Builder Cup 2026 · Sustainability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6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Gemini · Vertex AI   ·   BigQuery   ·   Cloud Run   ·   Sentinel-1 InSAR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